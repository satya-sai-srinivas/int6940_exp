
<file path=[Content_Types].xml><?xml version="1.0" encoding="utf-8"?>
<Types xmlns="http://schemas.openxmlformats.org/package/2006/content-types">
  <Default Extension="bin" ContentType="image/unknow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702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in"/><Relationship Id="rId7" Type="http://schemas.openxmlformats.org/officeDocument/2006/relationships/image" Target="../media/image6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bin"/><Relationship Id="rId5" Type="http://schemas.openxmlformats.org/officeDocument/2006/relationships/image" Target="../media/image4.bin"/><Relationship Id="rId4" Type="http://schemas.openxmlformats.org/officeDocument/2006/relationships/image" Target="../media/image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bin"/><Relationship Id="rId13" Type="http://schemas.openxmlformats.org/officeDocument/2006/relationships/image" Target="../media/image17.bin"/><Relationship Id="rId3" Type="http://schemas.openxmlformats.org/officeDocument/2006/relationships/image" Target="../media/image7.bin"/><Relationship Id="rId7" Type="http://schemas.openxmlformats.org/officeDocument/2006/relationships/image" Target="../media/image11.bin"/><Relationship Id="rId12" Type="http://schemas.openxmlformats.org/officeDocument/2006/relationships/image" Target="../media/image16.bin"/><Relationship Id="rId17" Type="http://schemas.openxmlformats.org/officeDocument/2006/relationships/image" Target="../media/image21.bin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0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bin"/><Relationship Id="rId11" Type="http://schemas.openxmlformats.org/officeDocument/2006/relationships/image" Target="../media/image15.bin"/><Relationship Id="rId5" Type="http://schemas.openxmlformats.org/officeDocument/2006/relationships/image" Target="../media/image9.bin"/><Relationship Id="rId15" Type="http://schemas.openxmlformats.org/officeDocument/2006/relationships/image" Target="../media/image19.bin"/><Relationship Id="rId10" Type="http://schemas.openxmlformats.org/officeDocument/2006/relationships/image" Target="../media/image14.bin"/><Relationship Id="rId4" Type="http://schemas.openxmlformats.org/officeDocument/2006/relationships/image" Target="../media/image8.bin"/><Relationship Id="rId9" Type="http://schemas.openxmlformats.org/officeDocument/2006/relationships/image" Target="../media/image13.bin"/><Relationship Id="rId14" Type="http://schemas.openxmlformats.org/officeDocument/2006/relationships/image" Target="../media/image18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bin"/><Relationship Id="rId5" Type="http://schemas.openxmlformats.org/officeDocument/2006/relationships/image" Target="../media/image24.bin"/><Relationship Id="rId4" Type="http://schemas.openxmlformats.org/officeDocument/2006/relationships/image" Target="../media/image2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bin"/><Relationship Id="rId3" Type="http://schemas.openxmlformats.org/officeDocument/2006/relationships/image" Target="../media/image26.bin"/><Relationship Id="rId7" Type="http://schemas.openxmlformats.org/officeDocument/2006/relationships/image" Target="../media/image30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bin"/><Relationship Id="rId5" Type="http://schemas.openxmlformats.org/officeDocument/2006/relationships/image" Target="../media/image28.bin"/><Relationship Id="rId10" Type="http://schemas.openxmlformats.org/officeDocument/2006/relationships/image" Target="../media/image33.bin"/><Relationship Id="rId4" Type="http://schemas.openxmlformats.org/officeDocument/2006/relationships/image" Target="../media/image27.bin"/><Relationship Id="rId9" Type="http://schemas.openxmlformats.org/officeDocument/2006/relationships/image" Target="../media/image3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bin"/><Relationship Id="rId7" Type="http://schemas.openxmlformats.org/officeDocument/2006/relationships/image" Target="../media/image4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bin"/><Relationship Id="rId5" Type="http://schemas.openxmlformats.org/officeDocument/2006/relationships/image" Target="../media/image39.bin"/><Relationship Id="rId4" Type="http://schemas.openxmlformats.org/officeDocument/2006/relationships/image" Target="../media/image3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bin"/><Relationship Id="rId3" Type="http://schemas.openxmlformats.org/officeDocument/2006/relationships/image" Target="../media/image42.bin"/><Relationship Id="rId7" Type="http://schemas.openxmlformats.org/officeDocument/2006/relationships/image" Target="../media/image4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bin"/><Relationship Id="rId11" Type="http://schemas.openxmlformats.org/officeDocument/2006/relationships/image" Target="../media/image50.bin"/><Relationship Id="rId5" Type="http://schemas.openxmlformats.org/officeDocument/2006/relationships/image" Target="../media/image44.bin"/><Relationship Id="rId10" Type="http://schemas.openxmlformats.org/officeDocument/2006/relationships/image" Target="../media/image49.bin"/><Relationship Id="rId4" Type="http://schemas.openxmlformats.org/officeDocument/2006/relationships/image" Target="../media/image43.bin"/><Relationship Id="rId9" Type="http://schemas.openxmlformats.org/officeDocument/2006/relationships/image" Target="../media/image4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bin"/><Relationship Id="rId3" Type="http://schemas.openxmlformats.org/officeDocument/2006/relationships/image" Target="../media/image51.bin"/><Relationship Id="rId7" Type="http://schemas.openxmlformats.org/officeDocument/2006/relationships/image" Target="../media/image5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bin"/><Relationship Id="rId5" Type="http://schemas.openxmlformats.org/officeDocument/2006/relationships/image" Target="../media/image53.bin"/><Relationship Id="rId4" Type="http://schemas.openxmlformats.org/officeDocument/2006/relationships/image" Target="../media/image52.bin"/><Relationship Id="rId9" Type="http://schemas.openxmlformats.org/officeDocument/2006/relationships/image" Target="../media/image5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bin"/><Relationship Id="rId13" Type="http://schemas.openxmlformats.org/officeDocument/2006/relationships/image" Target="../media/image68.bin"/><Relationship Id="rId3" Type="http://schemas.openxmlformats.org/officeDocument/2006/relationships/image" Target="../media/image58.bin"/><Relationship Id="rId7" Type="http://schemas.openxmlformats.org/officeDocument/2006/relationships/image" Target="../media/image62.bin"/><Relationship Id="rId12" Type="http://schemas.openxmlformats.org/officeDocument/2006/relationships/image" Target="../media/image67.bin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bin"/><Relationship Id="rId11" Type="http://schemas.openxmlformats.org/officeDocument/2006/relationships/image" Target="../media/image66.bin"/><Relationship Id="rId5" Type="http://schemas.openxmlformats.org/officeDocument/2006/relationships/image" Target="../media/image60.bin"/><Relationship Id="rId15" Type="http://schemas.openxmlformats.org/officeDocument/2006/relationships/image" Target="../media/image70.bin"/><Relationship Id="rId10" Type="http://schemas.openxmlformats.org/officeDocument/2006/relationships/image" Target="../media/image65.bin"/><Relationship Id="rId4" Type="http://schemas.openxmlformats.org/officeDocument/2006/relationships/image" Target="../media/image59.bin"/><Relationship Id="rId9" Type="http://schemas.openxmlformats.org/officeDocument/2006/relationships/image" Target="../media/image64.bin"/><Relationship Id="rId14" Type="http://schemas.openxmlformats.org/officeDocument/2006/relationships/image" Target="../media/image6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14375" y="-714375"/>
            <a:ext cx="2857500" cy="285750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572375" y="3571875"/>
            <a:ext cx="2143125" cy="2143125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343650" y="2571750"/>
            <a:ext cx="1428750" cy="142875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429500" y="285750"/>
            <a:ext cx="1285875" cy="12858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71500" y="854392"/>
            <a:ext cx="6965048" cy="55399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Draft Overview of the Design: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571500" y="1368363"/>
            <a:ext cx="638344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Patient Onboarding System 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571500" y="2478412"/>
            <a:ext cx="7310038" cy="6463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comprehensive guide to designing, developing, and implementing a multi-channel patient check-in and queue management system using OutSystems Developer Cloud platform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735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500063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Overview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1042988"/>
            <a:ext cx="3946922" cy="1935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0063" y="1042988"/>
            <a:ext cx="35719" cy="193595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218009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0113" y="1185863"/>
            <a:ext cx="152999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Information</a:t>
            </a:r>
            <a:endParaRPr lang="en-US" sz="1238" dirty="0"/>
          </a:p>
        </p:txBody>
      </p:sp>
      <p:sp>
        <p:nvSpPr>
          <p:cNvPr id="8" name="Text 4"/>
          <p:cNvSpPr/>
          <p:nvPr/>
        </p:nvSpPr>
        <p:spPr>
          <a:xfrm>
            <a:off x="642938" y="1528763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Name: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1928813" y="1528763"/>
            <a:ext cx="23752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PatientOnboardingSystem</a:t>
            </a:r>
            <a:endParaRPr lang="en-US" sz="942" dirty="0"/>
          </a:p>
        </p:txBody>
      </p:sp>
      <p:sp>
        <p:nvSpPr>
          <p:cNvPr id="10" name="Text 6"/>
          <p:cNvSpPr/>
          <p:nvPr/>
        </p:nvSpPr>
        <p:spPr>
          <a:xfrm>
            <a:off x="642938" y="1807369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Type: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1928813" y="1807369"/>
            <a:ext cx="23752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Reactive Web Application + Mobile App</a:t>
            </a:r>
            <a:endParaRPr lang="en-US" sz="942" dirty="0"/>
          </a:p>
        </p:txBody>
      </p:sp>
      <p:sp>
        <p:nvSpPr>
          <p:cNvPr id="12" name="Text 8"/>
          <p:cNvSpPr/>
          <p:nvPr/>
        </p:nvSpPr>
        <p:spPr>
          <a:xfrm>
            <a:off x="642938" y="2085975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Platform: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1928813" y="2109927"/>
            <a:ext cx="1441100" cy="14497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/>
              <a:t>To be defined by the Sponsor</a:t>
            </a:r>
          </a:p>
        </p:txBody>
      </p:sp>
      <p:sp>
        <p:nvSpPr>
          <p:cNvPr id="14" name="Text 10"/>
          <p:cNvSpPr/>
          <p:nvPr/>
        </p:nvSpPr>
        <p:spPr>
          <a:xfrm>
            <a:off x="642938" y="2364581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Target Audience: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1928813" y="2364581"/>
            <a:ext cx="23752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Small to Medium Clinics</a:t>
            </a:r>
            <a:endParaRPr lang="en-US" sz="942" dirty="0"/>
          </a:p>
        </p:txBody>
      </p:sp>
      <p:sp>
        <p:nvSpPr>
          <p:cNvPr id="16" name="Shape 12"/>
          <p:cNvSpPr/>
          <p:nvPr/>
        </p:nvSpPr>
        <p:spPr>
          <a:xfrm>
            <a:off x="500063" y="2928938"/>
            <a:ext cx="3946922" cy="145152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00063" y="2928938"/>
            <a:ext cx="35719" cy="145152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103959"/>
            <a:ext cx="171450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113" y="3071813"/>
            <a:ext cx="63038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Purpose</a:t>
            </a:r>
            <a:endParaRPr lang="en-US" sz="1238" dirty="0"/>
          </a:p>
        </p:txBody>
      </p:sp>
      <p:sp>
        <p:nvSpPr>
          <p:cNvPr id="20" name="Text 15"/>
          <p:cNvSpPr/>
          <p:nvPr/>
        </p:nvSpPr>
        <p:spPr>
          <a:xfrm>
            <a:off x="642938" y="3414713"/>
            <a:ext cx="3661172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Multi-channel patient check-in and queue management system designed to streamline clinic operations, reduce wait times, and enhance patient experience through digital transformation. </a:t>
            </a:r>
            <a:endParaRPr lang="en-US" sz="942" dirty="0"/>
          </a:p>
        </p:txBody>
      </p:sp>
      <p:sp>
        <p:nvSpPr>
          <p:cNvPr id="21" name="Shape 16"/>
          <p:cNvSpPr/>
          <p:nvPr/>
        </p:nvSpPr>
        <p:spPr>
          <a:xfrm>
            <a:off x="500063" y="4523333"/>
            <a:ext cx="3946922" cy="1271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00063" y="4523333"/>
            <a:ext cx="35719" cy="12715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4698355"/>
            <a:ext cx="214313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2975" y="4666208"/>
            <a:ext cx="80704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Roles</a:t>
            </a:r>
            <a:endParaRPr lang="en-US" sz="1238" dirty="0"/>
          </a:p>
        </p:txBody>
      </p:sp>
      <p:sp>
        <p:nvSpPr>
          <p:cNvPr id="25" name="Shape 19"/>
          <p:cNvSpPr/>
          <p:nvPr/>
        </p:nvSpPr>
        <p:spPr>
          <a:xfrm>
            <a:off x="642938" y="5009108"/>
            <a:ext cx="675531" cy="285750"/>
          </a:xfrm>
          <a:prstGeom prst="round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642938" y="5018837"/>
            <a:ext cx="746968" cy="26629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Patients</a:t>
            </a:r>
            <a:endParaRPr lang="en-US" sz="837" dirty="0"/>
          </a:p>
        </p:txBody>
      </p:sp>
      <p:sp>
        <p:nvSpPr>
          <p:cNvPr id="27" name="Shape 21"/>
          <p:cNvSpPr/>
          <p:nvPr/>
        </p:nvSpPr>
        <p:spPr>
          <a:xfrm>
            <a:off x="1389906" y="5009108"/>
            <a:ext cx="1102202" cy="285750"/>
          </a:xfrm>
          <a:prstGeom prst="round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1389906" y="5009108"/>
            <a:ext cx="1102202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 Desk Staff</a:t>
            </a:r>
            <a:endParaRPr lang="en-US" sz="837" dirty="0"/>
          </a:p>
        </p:txBody>
      </p:sp>
      <p:sp>
        <p:nvSpPr>
          <p:cNvPr id="29" name="Shape 23"/>
          <p:cNvSpPr/>
          <p:nvPr/>
        </p:nvSpPr>
        <p:spPr>
          <a:xfrm>
            <a:off x="2563546" y="5009108"/>
            <a:ext cx="655300" cy="285750"/>
          </a:xfrm>
          <a:prstGeom prst="round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2556639" y="5018837"/>
            <a:ext cx="729302" cy="26629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Doctors</a:t>
            </a:r>
            <a:endParaRPr lang="en-US" sz="837" dirty="0"/>
          </a:p>
        </p:txBody>
      </p:sp>
      <p:sp>
        <p:nvSpPr>
          <p:cNvPr id="31" name="Shape 25"/>
          <p:cNvSpPr/>
          <p:nvPr/>
        </p:nvSpPr>
        <p:spPr>
          <a:xfrm>
            <a:off x="642938" y="5366296"/>
            <a:ext cx="1045164" cy="285750"/>
          </a:xfrm>
          <a:prstGeom prst="round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642938" y="5376025"/>
            <a:ext cx="1102202" cy="26629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Administrators</a:t>
            </a:r>
            <a:endParaRPr lang="en-US" sz="837" dirty="0"/>
          </a:p>
        </p:txBody>
      </p:sp>
      <p:sp>
        <p:nvSpPr>
          <p:cNvPr id="33" name="Shape 27"/>
          <p:cNvSpPr/>
          <p:nvPr/>
        </p:nvSpPr>
        <p:spPr>
          <a:xfrm>
            <a:off x="4697016" y="1042988"/>
            <a:ext cx="3946922" cy="2571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016" y="1042988"/>
            <a:ext cx="3946922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793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21469"/>
            <a:ext cx="8143875" cy="48577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Model Architecture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500063" y="957263"/>
            <a:ext cx="430572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Entities</a:t>
            </a:r>
            <a:endParaRPr lang="en-US" sz="1238" dirty="0"/>
          </a:p>
        </p:txBody>
      </p:sp>
      <p:sp>
        <p:nvSpPr>
          <p:cNvPr id="5" name="Shape 2"/>
          <p:cNvSpPr/>
          <p:nvPr/>
        </p:nvSpPr>
        <p:spPr>
          <a:xfrm>
            <a:off x="500063" y="1300163"/>
            <a:ext cx="1368558" cy="102440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68" y="1446609"/>
            <a:ext cx="162520" cy="1857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735931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600075" y="1964531"/>
            <a:ext cx="116853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Demographics &amp; contact information</a:t>
            </a:r>
            <a:endParaRPr lang="en-US" sz="732" dirty="0"/>
          </a:p>
        </p:txBody>
      </p:sp>
      <p:sp>
        <p:nvSpPr>
          <p:cNvPr id="9" name="Shape 5"/>
          <p:cNvSpPr/>
          <p:nvPr/>
        </p:nvSpPr>
        <p:spPr>
          <a:xfrm>
            <a:off x="1968633" y="1300163"/>
            <a:ext cx="1368558" cy="102440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638" y="1446609"/>
            <a:ext cx="162520" cy="1857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068646" y="1735931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2068646" y="1964531"/>
            <a:ext cx="116853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Check-in sessions tracking</a:t>
            </a:r>
            <a:endParaRPr lang="en-US" sz="732" dirty="0"/>
          </a:p>
        </p:txBody>
      </p:sp>
      <p:sp>
        <p:nvSpPr>
          <p:cNvPr id="13" name="Shape 8"/>
          <p:cNvSpPr/>
          <p:nvPr/>
        </p:nvSpPr>
        <p:spPr>
          <a:xfrm>
            <a:off x="3437204" y="1300163"/>
            <a:ext cx="1368558" cy="102440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6992" y="1446609"/>
            <a:ext cx="208955" cy="18573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37217" y="1735931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QueueTicket</a:t>
            </a:r>
            <a:endParaRPr lang="en-US" sz="942" dirty="0"/>
          </a:p>
        </p:txBody>
      </p:sp>
      <p:sp>
        <p:nvSpPr>
          <p:cNvPr id="16" name="Text 10"/>
          <p:cNvSpPr/>
          <p:nvPr/>
        </p:nvSpPr>
        <p:spPr>
          <a:xfrm>
            <a:off x="3537217" y="1964531"/>
            <a:ext cx="116853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 position &amp; status</a:t>
            </a:r>
            <a:endParaRPr lang="en-US" sz="732" dirty="0"/>
          </a:p>
        </p:txBody>
      </p:sp>
      <p:sp>
        <p:nvSpPr>
          <p:cNvPr id="17" name="Shape 11"/>
          <p:cNvSpPr/>
          <p:nvPr/>
        </p:nvSpPr>
        <p:spPr>
          <a:xfrm>
            <a:off x="500063" y="2424578"/>
            <a:ext cx="1368558" cy="8943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676" y="2571024"/>
            <a:ext cx="139303" cy="1857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0075" y="2860346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</a:t>
            </a:r>
            <a:endParaRPr lang="en-US" sz="942" dirty="0"/>
          </a:p>
        </p:txBody>
      </p:sp>
      <p:sp>
        <p:nvSpPr>
          <p:cNvPr id="20" name="Text 13"/>
          <p:cNvSpPr/>
          <p:nvPr/>
        </p:nvSpPr>
        <p:spPr>
          <a:xfrm>
            <a:off x="600075" y="3088946"/>
            <a:ext cx="116853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Clinic departments</a:t>
            </a:r>
            <a:endParaRPr lang="en-US" sz="732" dirty="0"/>
          </a:p>
        </p:txBody>
      </p:sp>
      <p:sp>
        <p:nvSpPr>
          <p:cNvPr id="21" name="Shape 14"/>
          <p:cNvSpPr/>
          <p:nvPr/>
        </p:nvSpPr>
        <p:spPr>
          <a:xfrm>
            <a:off x="1968633" y="2424578"/>
            <a:ext cx="1368558" cy="8943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638" y="2571024"/>
            <a:ext cx="162520" cy="18573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068646" y="2860346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</a:t>
            </a:r>
            <a:endParaRPr lang="en-US" sz="942" dirty="0"/>
          </a:p>
        </p:txBody>
      </p:sp>
      <p:sp>
        <p:nvSpPr>
          <p:cNvPr id="24" name="Text 16"/>
          <p:cNvSpPr/>
          <p:nvPr/>
        </p:nvSpPr>
        <p:spPr>
          <a:xfrm>
            <a:off x="2068646" y="3088946"/>
            <a:ext cx="116853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Medical staff records</a:t>
            </a:r>
            <a:endParaRPr lang="en-US" sz="732" dirty="0"/>
          </a:p>
        </p:txBody>
      </p:sp>
      <p:sp>
        <p:nvSpPr>
          <p:cNvPr id="25" name="Shape 17"/>
          <p:cNvSpPr/>
          <p:nvPr/>
        </p:nvSpPr>
        <p:spPr>
          <a:xfrm>
            <a:off x="3437204" y="2424578"/>
            <a:ext cx="1368558" cy="8943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1818" y="2571024"/>
            <a:ext cx="139303" cy="18573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537217" y="2860346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CheckInLog</a:t>
            </a:r>
            <a:endParaRPr lang="en-US" sz="942" dirty="0"/>
          </a:p>
        </p:txBody>
      </p:sp>
      <p:sp>
        <p:nvSpPr>
          <p:cNvPr id="28" name="Text 19"/>
          <p:cNvSpPr/>
          <p:nvPr/>
        </p:nvSpPr>
        <p:spPr>
          <a:xfrm>
            <a:off x="3537217" y="3088946"/>
            <a:ext cx="116853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trail logging</a:t>
            </a:r>
            <a:endParaRPr lang="en-US" sz="732" dirty="0"/>
          </a:p>
        </p:txBody>
      </p:sp>
      <p:sp>
        <p:nvSpPr>
          <p:cNvPr id="29" name="Shape 20"/>
          <p:cNvSpPr/>
          <p:nvPr/>
        </p:nvSpPr>
        <p:spPr>
          <a:xfrm>
            <a:off x="500063" y="3418982"/>
            <a:ext cx="1368558" cy="8943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459" y="3565429"/>
            <a:ext cx="185738" cy="185738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00075" y="3854751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SMSNotification</a:t>
            </a:r>
            <a:endParaRPr lang="en-US" sz="942" dirty="0"/>
          </a:p>
        </p:txBody>
      </p:sp>
      <p:sp>
        <p:nvSpPr>
          <p:cNvPr id="32" name="Text 22"/>
          <p:cNvSpPr/>
          <p:nvPr/>
        </p:nvSpPr>
        <p:spPr>
          <a:xfrm>
            <a:off x="600075" y="4083351"/>
            <a:ext cx="116853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SMS messaging</a:t>
            </a:r>
            <a:endParaRPr lang="en-US" sz="732" dirty="0"/>
          </a:p>
        </p:txBody>
      </p:sp>
      <p:sp>
        <p:nvSpPr>
          <p:cNvPr id="33" name="Shape 23"/>
          <p:cNvSpPr/>
          <p:nvPr/>
        </p:nvSpPr>
        <p:spPr>
          <a:xfrm>
            <a:off x="1968633" y="3418982"/>
            <a:ext cx="1368558" cy="8943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8421" y="3565429"/>
            <a:ext cx="208955" cy="18573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068646" y="3854751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RFIDCard</a:t>
            </a:r>
            <a:endParaRPr lang="en-US" sz="942" dirty="0"/>
          </a:p>
        </p:txBody>
      </p:sp>
      <p:sp>
        <p:nvSpPr>
          <p:cNvPr id="36" name="Text 25"/>
          <p:cNvSpPr/>
          <p:nvPr/>
        </p:nvSpPr>
        <p:spPr>
          <a:xfrm>
            <a:off x="2068646" y="4083351"/>
            <a:ext cx="116853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RFID card management</a:t>
            </a:r>
            <a:endParaRPr lang="en-US" sz="732" dirty="0"/>
          </a:p>
        </p:txBody>
      </p:sp>
      <p:sp>
        <p:nvSpPr>
          <p:cNvPr id="37" name="Shape 26"/>
          <p:cNvSpPr/>
          <p:nvPr/>
        </p:nvSpPr>
        <p:spPr>
          <a:xfrm>
            <a:off x="3437204" y="3418982"/>
            <a:ext cx="1368558" cy="8943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40209" y="3565429"/>
            <a:ext cx="162520" cy="18573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537217" y="3854751"/>
            <a:ext cx="11685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QRCode</a:t>
            </a:r>
            <a:endParaRPr lang="en-US" sz="942" dirty="0"/>
          </a:p>
        </p:txBody>
      </p:sp>
      <p:sp>
        <p:nvSpPr>
          <p:cNvPr id="40" name="Text 28"/>
          <p:cNvSpPr/>
          <p:nvPr/>
        </p:nvSpPr>
        <p:spPr>
          <a:xfrm>
            <a:off x="3537217" y="4083351"/>
            <a:ext cx="116853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 code generation</a:t>
            </a:r>
            <a:endParaRPr lang="en-US" sz="732" dirty="0"/>
          </a:p>
        </p:txBody>
      </p:sp>
      <p:sp>
        <p:nvSpPr>
          <p:cNvPr id="41" name="Shape 29"/>
          <p:cNvSpPr/>
          <p:nvPr/>
        </p:nvSpPr>
        <p:spPr>
          <a:xfrm>
            <a:off x="5055822" y="957263"/>
            <a:ext cx="3588116" cy="2743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8697" y="1139428"/>
            <a:ext cx="176808" cy="157163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446942" y="1100138"/>
            <a:ext cx="135175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Relationships</a:t>
            </a:r>
            <a:endParaRPr lang="en-US" sz="1238" dirty="0"/>
          </a:p>
        </p:txBody>
      </p:sp>
      <p:sp>
        <p:nvSpPr>
          <p:cNvPr id="44" name="Shape 31"/>
          <p:cNvSpPr/>
          <p:nvPr/>
        </p:nvSpPr>
        <p:spPr>
          <a:xfrm>
            <a:off x="5198697" y="1450181"/>
            <a:ext cx="3302366" cy="33575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2"/>
          <p:cNvSpPr/>
          <p:nvPr/>
        </p:nvSpPr>
        <p:spPr>
          <a:xfrm>
            <a:off x="5270134" y="1532334"/>
            <a:ext cx="2401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</a:t>
            </a:r>
            <a:endParaRPr lang="en-US" sz="837" dirty="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1724" y="1553766"/>
            <a:ext cx="112514" cy="12858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765676" y="1532334"/>
            <a:ext cx="4033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</a:t>
            </a:r>
            <a:endParaRPr lang="en-US" sz="837" dirty="0"/>
          </a:p>
        </p:txBody>
      </p:sp>
      <p:sp>
        <p:nvSpPr>
          <p:cNvPr id="48" name="Shape 34"/>
          <p:cNvSpPr/>
          <p:nvPr/>
        </p:nvSpPr>
        <p:spPr>
          <a:xfrm>
            <a:off x="8126713" y="1521619"/>
            <a:ext cx="302912" cy="192881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35"/>
          <p:cNvSpPr/>
          <p:nvPr/>
        </p:nvSpPr>
        <p:spPr>
          <a:xfrm>
            <a:off x="8126713" y="1521619"/>
            <a:ext cx="302912" cy="19288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1:N</a:t>
            </a:r>
            <a:endParaRPr lang="en-US" sz="732" dirty="0"/>
          </a:p>
        </p:txBody>
      </p:sp>
      <p:sp>
        <p:nvSpPr>
          <p:cNvPr id="50" name="Shape 36"/>
          <p:cNvSpPr/>
          <p:nvPr/>
        </p:nvSpPr>
        <p:spPr>
          <a:xfrm>
            <a:off x="5198697" y="1871663"/>
            <a:ext cx="3302366" cy="33575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37"/>
          <p:cNvSpPr/>
          <p:nvPr/>
        </p:nvSpPr>
        <p:spPr>
          <a:xfrm>
            <a:off x="5270134" y="1953816"/>
            <a:ext cx="7051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QueueTicket</a:t>
            </a:r>
            <a:endParaRPr lang="en-US" sz="837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46710" y="1975247"/>
            <a:ext cx="112514" cy="128588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6230662" y="1953816"/>
            <a:ext cx="2401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</a:t>
            </a:r>
            <a:endParaRPr lang="en-US" sz="837" dirty="0"/>
          </a:p>
        </p:txBody>
      </p:sp>
      <p:sp>
        <p:nvSpPr>
          <p:cNvPr id="54" name="Shape 39"/>
          <p:cNvSpPr/>
          <p:nvPr/>
        </p:nvSpPr>
        <p:spPr>
          <a:xfrm>
            <a:off x="8145521" y="1943100"/>
            <a:ext cx="284104" cy="192881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40"/>
          <p:cNvSpPr/>
          <p:nvPr/>
        </p:nvSpPr>
        <p:spPr>
          <a:xfrm>
            <a:off x="8145521" y="1943100"/>
            <a:ext cx="284104" cy="19288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1:1</a:t>
            </a:r>
            <a:endParaRPr lang="en-US" sz="732" dirty="0"/>
          </a:p>
        </p:txBody>
      </p:sp>
      <p:sp>
        <p:nvSpPr>
          <p:cNvPr id="56" name="Shape 41"/>
          <p:cNvSpPr/>
          <p:nvPr/>
        </p:nvSpPr>
        <p:spPr>
          <a:xfrm>
            <a:off x="5198697" y="2293144"/>
            <a:ext cx="3302366" cy="33575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2"/>
          <p:cNvSpPr/>
          <p:nvPr/>
        </p:nvSpPr>
        <p:spPr>
          <a:xfrm>
            <a:off x="5270134" y="2375297"/>
            <a:ext cx="2401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</a:t>
            </a:r>
            <a:endParaRPr lang="en-US" sz="837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1724" y="2396728"/>
            <a:ext cx="112514" cy="128588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5765676" y="2375297"/>
            <a:ext cx="6822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</a:t>
            </a:r>
            <a:endParaRPr lang="en-US" sz="837" dirty="0"/>
          </a:p>
        </p:txBody>
      </p:sp>
      <p:sp>
        <p:nvSpPr>
          <p:cNvPr id="60" name="Shape 44"/>
          <p:cNvSpPr/>
          <p:nvPr/>
        </p:nvSpPr>
        <p:spPr>
          <a:xfrm>
            <a:off x="8126713" y="2364581"/>
            <a:ext cx="302912" cy="192881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45"/>
          <p:cNvSpPr/>
          <p:nvPr/>
        </p:nvSpPr>
        <p:spPr>
          <a:xfrm>
            <a:off x="8126713" y="2364581"/>
            <a:ext cx="302912" cy="19288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N:1</a:t>
            </a:r>
            <a:endParaRPr lang="en-US" sz="732" dirty="0"/>
          </a:p>
        </p:txBody>
      </p:sp>
      <p:sp>
        <p:nvSpPr>
          <p:cNvPr id="62" name="Shape 46"/>
          <p:cNvSpPr/>
          <p:nvPr/>
        </p:nvSpPr>
        <p:spPr>
          <a:xfrm>
            <a:off x="5198697" y="2714625"/>
            <a:ext cx="3302366" cy="33575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47"/>
          <p:cNvSpPr/>
          <p:nvPr/>
        </p:nvSpPr>
        <p:spPr>
          <a:xfrm>
            <a:off x="5270134" y="2796778"/>
            <a:ext cx="2401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</a:t>
            </a:r>
            <a:endParaRPr lang="en-US" sz="837" dirty="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1724" y="2818209"/>
            <a:ext cx="112514" cy="128588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5765676" y="2796778"/>
            <a:ext cx="3783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</a:t>
            </a:r>
            <a:endParaRPr lang="en-US" sz="837" dirty="0"/>
          </a:p>
        </p:txBody>
      </p:sp>
      <p:sp>
        <p:nvSpPr>
          <p:cNvPr id="66" name="Shape 49"/>
          <p:cNvSpPr/>
          <p:nvPr/>
        </p:nvSpPr>
        <p:spPr>
          <a:xfrm>
            <a:off x="8126713" y="2786063"/>
            <a:ext cx="302912" cy="192881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50"/>
          <p:cNvSpPr/>
          <p:nvPr/>
        </p:nvSpPr>
        <p:spPr>
          <a:xfrm>
            <a:off x="8126713" y="2786063"/>
            <a:ext cx="302912" cy="19288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N:1</a:t>
            </a:r>
            <a:endParaRPr lang="en-US" sz="732" dirty="0"/>
          </a:p>
        </p:txBody>
      </p:sp>
      <p:sp>
        <p:nvSpPr>
          <p:cNvPr id="68" name="Shape 51"/>
          <p:cNvSpPr/>
          <p:nvPr/>
        </p:nvSpPr>
        <p:spPr>
          <a:xfrm>
            <a:off x="5198697" y="3136106"/>
            <a:ext cx="3302366" cy="335756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52"/>
          <p:cNvSpPr/>
          <p:nvPr/>
        </p:nvSpPr>
        <p:spPr>
          <a:xfrm>
            <a:off x="5270134" y="3218259"/>
            <a:ext cx="5209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RFIDCard</a:t>
            </a:r>
            <a:endParaRPr lang="en-US" sz="837" dirty="0"/>
          </a:p>
        </p:txBody>
      </p:sp>
      <p:pic>
        <p:nvPicPr>
          <p:cNvPr id="7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62563" y="3239691"/>
            <a:ext cx="112514" cy="128588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6046515" y="3218259"/>
            <a:ext cx="40337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</a:t>
            </a:r>
            <a:endParaRPr lang="en-US" sz="837" dirty="0"/>
          </a:p>
        </p:txBody>
      </p:sp>
      <p:sp>
        <p:nvSpPr>
          <p:cNvPr id="72" name="Shape 54"/>
          <p:cNvSpPr/>
          <p:nvPr/>
        </p:nvSpPr>
        <p:spPr>
          <a:xfrm>
            <a:off x="8126713" y="3207544"/>
            <a:ext cx="302912" cy="192881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55"/>
          <p:cNvSpPr/>
          <p:nvPr/>
        </p:nvSpPr>
        <p:spPr>
          <a:xfrm>
            <a:off x="8126713" y="3207544"/>
            <a:ext cx="302912" cy="192881"/>
          </a:xfrm>
          <a:prstGeom prst="rect">
            <a:avLst/>
          </a:prstGeom>
          <a:noFill/>
          <a:ln/>
        </p:spPr>
        <p:txBody>
          <a:bodyPr wrap="none" lIns="85090" tIns="25527" rIns="85090" bIns="25527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N:1</a:t>
            </a:r>
            <a:endParaRPr lang="en-US" sz="732" dirty="0"/>
          </a:p>
        </p:txBody>
      </p:sp>
      <p:sp>
        <p:nvSpPr>
          <p:cNvPr id="74" name="Shape 56"/>
          <p:cNvSpPr/>
          <p:nvPr/>
        </p:nvSpPr>
        <p:spPr>
          <a:xfrm>
            <a:off x="5055822" y="3814763"/>
            <a:ext cx="3588116" cy="1714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55822" y="3814763"/>
            <a:ext cx="3588116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500063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Entities: Patient, Visit &amp; Queue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1042988"/>
            <a:ext cx="2595553" cy="3291483"/>
          </a:xfrm>
          <a:prstGeom prst="rect">
            <a:avLst/>
          </a:prstGeom>
          <a:solidFill>
            <a:srgbClr val="FFFFFF"/>
          </a:solidFill>
          <a:ln w="496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1253728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0113" y="1221581"/>
            <a:ext cx="57412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</a:t>
            </a:r>
            <a:endParaRPr lang="en-US" sz="1238" dirty="0"/>
          </a:p>
        </p:txBody>
      </p:sp>
      <p:sp>
        <p:nvSpPr>
          <p:cNvPr id="7" name="Text 3"/>
          <p:cNvSpPr/>
          <p:nvPr/>
        </p:nvSpPr>
        <p:spPr>
          <a:xfrm>
            <a:off x="678656" y="1564481"/>
            <a:ext cx="22383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Stores patient demographics and contact information with unique identification </a:t>
            </a:r>
            <a:endParaRPr lang="en-US" sz="837" dirty="0"/>
          </a:p>
        </p:txBody>
      </p:sp>
      <p:sp>
        <p:nvSpPr>
          <p:cNvPr id="8" name="Shape 4"/>
          <p:cNvSpPr/>
          <p:nvPr/>
        </p:nvSpPr>
        <p:spPr>
          <a:xfrm>
            <a:off x="678656" y="2035969"/>
            <a:ext cx="882448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8656" y="2035969"/>
            <a:ext cx="882448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Attribute</a:t>
            </a:r>
            <a:endParaRPr lang="en-US" sz="680" dirty="0"/>
          </a:p>
        </p:txBody>
      </p:sp>
      <p:sp>
        <p:nvSpPr>
          <p:cNvPr id="10" name="Shape 6"/>
          <p:cNvSpPr/>
          <p:nvPr/>
        </p:nvSpPr>
        <p:spPr>
          <a:xfrm>
            <a:off x="1561105" y="2035969"/>
            <a:ext cx="626222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561105" y="2035969"/>
            <a:ext cx="626222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</a:t>
            </a:r>
            <a:endParaRPr lang="en-US" sz="680" dirty="0"/>
          </a:p>
        </p:txBody>
      </p:sp>
      <p:sp>
        <p:nvSpPr>
          <p:cNvPr id="12" name="Shape 8"/>
          <p:cNvSpPr/>
          <p:nvPr/>
        </p:nvSpPr>
        <p:spPr>
          <a:xfrm>
            <a:off x="2187327" y="2035969"/>
            <a:ext cx="729695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187327" y="2035969"/>
            <a:ext cx="729695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</a:t>
            </a:r>
            <a:endParaRPr lang="en-US" sz="680" dirty="0"/>
          </a:p>
        </p:txBody>
      </p:sp>
      <p:sp>
        <p:nvSpPr>
          <p:cNvPr id="14" name="Text 10"/>
          <p:cNvSpPr/>
          <p:nvPr/>
        </p:nvSpPr>
        <p:spPr>
          <a:xfrm>
            <a:off x="678656" y="2289572"/>
            <a:ext cx="882448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PatientId</a:t>
            </a:r>
            <a:endParaRPr lang="en-US" sz="732" dirty="0"/>
          </a:p>
        </p:txBody>
      </p:sp>
      <p:sp>
        <p:nvSpPr>
          <p:cNvPr id="15" name="Text 11"/>
          <p:cNvSpPr/>
          <p:nvPr/>
        </p:nvSpPr>
        <p:spPr>
          <a:xfrm>
            <a:off x="1561105" y="2289572"/>
            <a:ext cx="626222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</a:t>
            </a:r>
            <a:endParaRPr lang="en-US" sz="732" dirty="0"/>
          </a:p>
        </p:txBody>
      </p:sp>
      <p:sp>
        <p:nvSpPr>
          <p:cNvPr id="16" name="Shape 12"/>
          <p:cNvSpPr/>
          <p:nvPr/>
        </p:nvSpPr>
        <p:spPr>
          <a:xfrm>
            <a:off x="2230189" y="2348508"/>
            <a:ext cx="185235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2230189" y="2348508"/>
            <a:ext cx="18523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PK</a:t>
            </a:r>
            <a:endParaRPr lang="en-US" sz="575" dirty="0"/>
          </a:p>
        </p:txBody>
      </p:sp>
      <p:sp>
        <p:nvSpPr>
          <p:cNvPr id="18" name="Text 14"/>
          <p:cNvSpPr/>
          <p:nvPr/>
        </p:nvSpPr>
        <p:spPr>
          <a:xfrm>
            <a:off x="678656" y="2548533"/>
            <a:ext cx="882448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PatientNumber</a:t>
            </a:r>
            <a:endParaRPr lang="en-US" sz="732" dirty="0"/>
          </a:p>
        </p:txBody>
      </p:sp>
      <p:sp>
        <p:nvSpPr>
          <p:cNvPr id="19" name="Text 15"/>
          <p:cNvSpPr/>
          <p:nvPr/>
        </p:nvSpPr>
        <p:spPr>
          <a:xfrm>
            <a:off x="1561105" y="2548533"/>
            <a:ext cx="62622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Text(20)</a:t>
            </a:r>
            <a:endParaRPr lang="en-US" sz="732" dirty="0"/>
          </a:p>
        </p:txBody>
      </p:sp>
      <p:sp>
        <p:nvSpPr>
          <p:cNvPr id="20" name="Shape 16"/>
          <p:cNvSpPr/>
          <p:nvPr/>
        </p:nvSpPr>
        <p:spPr>
          <a:xfrm>
            <a:off x="2230189" y="2611041"/>
            <a:ext cx="362741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2230189" y="2611041"/>
            <a:ext cx="362741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Unique</a:t>
            </a:r>
            <a:endParaRPr lang="en-US" sz="575" dirty="0"/>
          </a:p>
        </p:txBody>
      </p:sp>
      <p:sp>
        <p:nvSpPr>
          <p:cNvPr id="22" name="Text 18"/>
          <p:cNvSpPr/>
          <p:nvPr/>
        </p:nvSpPr>
        <p:spPr>
          <a:xfrm>
            <a:off x="678656" y="2811066"/>
            <a:ext cx="882448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FullName</a:t>
            </a:r>
            <a:endParaRPr lang="en-US" sz="732" dirty="0"/>
          </a:p>
        </p:txBody>
      </p:sp>
      <p:sp>
        <p:nvSpPr>
          <p:cNvPr id="23" name="Text 19"/>
          <p:cNvSpPr/>
          <p:nvPr/>
        </p:nvSpPr>
        <p:spPr>
          <a:xfrm>
            <a:off x="1561105" y="2811066"/>
            <a:ext cx="62622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Text(200)</a:t>
            </a:r>
            <a:endParaRPr lang="en-US" sz="732" dirty="0"/>
          </a:p>
        </p:txBody>
      </p:sp>
      <p:sp>
        <p:nvSpPr>
          <p:cNvPr id="24" name="Shape 20"/>
          <p:cNvSpPr/>
          <p:nvPr/>
        </p:nvSpPr>
        <p:spPr>
          <a:xfrm>
            <a:off x="2230189" y="2873573"/>
            <a:ext cx="432113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2230189" y="2873573"/>
            <a:ext cx="432113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Required</a:t>
            </a:r>
            <a:endParaRPr lang="en-US" sz="575" dirty="0"/>
          </a:p>
        </p:txBody>
      </p:sp>
      <p:sp>
        <p:nvSpPr>
          <p:cNvPr id="26" name="Text 22"/>
          <p:cNvSpPr/>
          <p:nvPr/>
        </p:nvSpPr>
        <p:spPr>
          <a:xfrm>
            <a:off x="678656" y="3073598"/>
            <a:ext cx="882448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PhoneNumber</a:t>
            </a:r>
            <a:endParaRPr lang="en-US" sz="732" dirty="0"/>
          </a:p>
        </p:txBody>
      </p:sp>
      <p:sp>
        <p:nvSpPr>
          <p:cNvPr id="27" name="Text 23"/>
          <p:cNvSpPr/>
          <p:nvPr/>
        </p:nvSpPr>
        <p:spPr>
          <a:xfrm>
            <a:off x="1561105" y="3073598"/>
            <a:ext cx="62622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Phone(20)</a:t>
            </a:r>
            <a:endParaRPr lang="en-US" sz="732" dirty="0"/>
          </a:p>
        </p:txBody>
      </p:sp>
      <p:sp>
        <p:nvSpPr>
          <p:cNvPr id="28" name="Shape 24"/>
          <p:cNvSpPr/>
          <p:nvPr/>
        </p:nvSpPr>
        <p:spPr>
          <a:xfrm>
            <a:off x="2230189" y="3136106"/>
            <a:ext cx="432113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2230189" y="3136106"/>
            <a:ext cx="432113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Required</a:t>
            </a:r>
            <a:endParaRPr lang="en-US" sz="575" dirty="0"/>
          </a:p>
        </p:txBody>
      </p:sp>
      <p:sp>
        <p:nvSpPr>
          <p:cNvPr id="30" name="Text 26"/>
          <p:cNvSpPr/>
          <p:nvPr/>
        </p:nvSpPr>
        <p:spPr>
          <a:xfrm>
            <a:off x="678656" y="3336131"/>
            <a:ext cx="882448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DateOfBirth</a:t>
            </a:r>
            <a:endParaRPr lang="en-US" sz="732" dirty="0"/>
          </a:p>
        </p:txBody>
      </p:sp>
      <p:sp>
        <p:nvSpPr>
          <p:cNvPr id="31" name="Text 27"/>
          <p:cNvSpPr/>
          <p:nvPr/>
        </p:nvSpPr>
        <p:spPr>
          <a:xfrm>
            <a:off x="1561105" y="3336131"/>
            <a:ext cx="62622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</a:t>
            </a:r>
            <a:endParaRPr lang="en-US" sz="732" dirty="0"/>
          </a:p>
        </p:txBody>
      </p:sp>
      <p:sp>
        <p:nvSpPr>
          <p:cNvPr id="32" name="Shape 28"/>
          <p:cNvSpPr/>
          <p:nvPr/>
        </p:nvSpPr>
        <p:spPr>
          <a:xfrm>
            <a:off x="2230189" y="3398639"/>
            <a:ext cx="432113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2230189" y="3398639"/>
            <a:ext cx="432113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Required</a:t>
            </a:r>
            <a:endParaRPr lang="en-US" sz="575" dirty="0"/>
          </a:p>
        </p:txBody>
      </p:sp>
      <p:sp>
        <p:nvSpPr>
          <p:cNvPr id="34" name="Text 30"/>
          <p:cNvSpPr/>
          <p:nvPr/>
        </p:nvSpPr>
        <p:spPr>
          <a:xfrm>
            <a:off x="678656" y="3598664"/>
            <a:ext cx="882448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</a:t>
            </a:r>
            <a:endParaRPr lang="en-US" sz="732" dirty="0"/>
          </a:p>
        </p:txBody>
      </p:sp>
      <p:sp>
        <p:nvSpPr>
          <p:cNvPr id="35" name="Text 31"/>
          <p:cNvSpPr/>
          <p:nvPr/>
        </p:nvSpPr>
        <p:spPr>
          <a:xfrm>
            <a:off x="1561105" y="3598664"/>
            <a:ext cx="62622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Email(100)</a:t>
            </a:r>
            <a:endParaRPr lang="en-US" sz="732" dirty="0"/>
          </a:p>
        </p:txBody>
      </p:sp>
      <p:sp>
        <p:nvSpPr>
          <p:cNvPr id="36" name="Shape 32"/>
          <p:cNvSpPr/>
          <p:nvPr/>
        </p:nvSpPr>
        <p:spPr>
          <a:xfrm>
            <a:off x="2230189" y="3661172"/>
            <a:ext cx="418914" cy="146447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2230189" y="3661172"/>
            <a:ext cx="418914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575" dirty="0"/>
          </a:p>
        </p:txBody>
      </p:sp>
      <p:sp>
        <p:nvSpPr>
          <p:cNvPr id="38" name="Text 34"/>
          <p:cNvSpPr/>
          <p:nvPr/>
        </p:nvSpPr>
        <p:spPr>
          <a:xfrm>
            <a:off x="678656" y="3861197"/>
            <a:ext cx="882448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IsActive</a:t>
            </a:r>
            <a:endParaRPr lang="en-US" sz="732" dirty="0"/>
          </a:p>
        </p:txBody>
      </p:sp>
      <p:sp>
        <p:nvSpPr>
          <p:cNvPr id="39" name="Text 35"/>
          <p:cNvSpPr/>
          <p:nvPr/>
        </p:nvSpPr>
        <p:spPr>
          <a:xfrm>
            <a:off x="1561105" y="3861197"/>
            <a:ext cx="626222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Boolean</a:t>
            </a:r>
            <a:endParaRPr lang="en-US" sz="732" dirty="0"/>
          </a:p>
        </p:txBody>
      </p:sp>
      <p:sp>
        <p:nvSpPr>
          <p:cNvPr id="40" name="Shape 36"/>
          <p:cNvSpPr/>
          <p:nvPr/>
        </p:nvSpPr>
        <p:spPr>
          <a:xfrm>
            <a:off x="2230189" y="3923705"/>
            <a:ext cx="583304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2230189" y="3923705"/>
            <a:ext cx="583304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Default: True</a:t>
            </a:r>
            <a:endParaRPr lang="en-US" sz="575" dirty="0"/>
          </a:p>
        </p:txBody>
      </p:sp>
      <p:sp>
        <p:nvSpPr>
          <p:cNvPr id="42" name="Shape 38"/>
          <p:cNvSpPr/>
          <p:nvPr/>
        </p:nvSpPr>
        <p:spPr>
          <a:xfrm>
            <a:off x="3274209" y="1042988"/>
            <a:ext cx="2595553" cy="3291483"/>
          </a:xfrm>
          <a:prstGeom prst="rect">
            <a:avLst/>
          </a:prstGeom>
          <a:solidFill>
            <a:srgbClr val="FFFFFF"/>
          </a:solidFill>
          <a:ln w="496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803" y="1253728"/>
            <a:ext cx="150019" cy="17145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3674259" y="1221581"/>
            <a:ext cx="34435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</a:t>
            </a:r>
            <a:endParaRPr lang="en-US" sz="1238" dirty="0"/>
          </a:p>
        </p:txBody>
      </p:sp>
      <p:sp>
        <p:nvSpPr>
          <p:cNvPr id="45" name="Text 40"/>
          <p:cNvSpPr/>
          <p:nvPr/>
        </p:nvSpPr>
        <p:spPr>
          <a:xfrm>
            <a:off x="3452803" y="1564481"/>
            <a:ext cx="22383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Tracks patient check-in sessions and visit details for each clinic appointment </a:t>
            </a:r>
            <a:endParaRPr lang="en-US" sz="837" dirty="0"/>
          </a:p>
        </p:txBody>
      </p:sp>
      <p:sp>
        <p:nvSpPr>
          <p:cNvPr id="46" name="Shape 41"/>
          <p:cNvSpPr/>
          <p:nvPr/>
        </p:nvSpPr>
        <p:spPr>
          <a:xfrm>
            <a:off x="3452803" y="2035969"/>
            <a:ext cx="938092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2"/>
          <p:cNvSpPr/>
          <p:nvPr/>
        </p:nvSpPr>
        <p:spPr>
          <a:xfrm>
            <a:off x="3452803" y="2035969"/>
            <a:ext cx="938092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Attribute</a:t>
            </a:r>
            <a:endParaRPr lang="en-US" sz="680" dirty="0"/>
          </a:p>
        </p:txBody>
      </p:sp>
      <p:sp>
        <p:nvSpPr>
          <p:cNvPr id="48" name="Shape 43"/>
          <p:cNvSpPr/>
          <p:nvPr/>
        </p:nvSpPr>
        <p:spPr>
          <a:xfrm>
            <a:off x="4390895" y="2035969"/>
            <a:ext cx="550906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4"/>
          <p:cNvSpPr/>
          <p:nvPr/>
        </p:nvSpPr>
        <p:spPr>
          <a:xfrm>
            <a:off x="4390895" y="2035969"/>
            <a:ext cx="550906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</a:t>
            </a:r>
            <a:endParaRPr lang="en-US" sz="680" dirty="0"/>
          </a:p>
        </p:txBody>
      </p:sp>
      <p:sp>
        <p:nvSpPr>
          <p:cNvPr id="50" name="Shape 45"/>
          <p:cNvSpPr/>
          <p:nvPr/>
        </p:nvSpPr>
        <p:spPr>
          <a:xfrm>
            <a:off x="4941801" y="2035969"/>
            <a:ext cx="749368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4941801" y="2035969"/>
            <a:ext cx="749368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</a:t>
            </a:r>
            <a:endParaRPr lang="en-US" sz="680" dirty="0"/>
          </a:p>
        </p:txBody>
      </p:sp>
      <p:sp>
        <p:nvSpPr>
          <p:cNvPr id="52" name="Text 47"/>
          <p:cNvSpPr/>
          <p:nvPr/>
        </p:nvSpPr>
        <p:spPr>
          <a:xfrm>
            <a:off x="3452803" y="2289572"/>
            <a:ext cx="938092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VisitId</a:t>
            </a:r>
            <a:endParaRPr lang="en-US" sz="732" dirty="0"/>
          </a:p>
        </p:txBody>
      </p:sp>
      <p:sp>
        <p:nvSpPr>
          <p:cNvPr id="53" name="Text 48"/>
          <p:cNvSpPr/>
          <p:nvPr/>
        </p:nvSpPr>
        <p:spPr>
          <a:xfrm>
            <a:off x="4390895" y="2289572"/>
            <a:ext cx="550906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</a:t>
            </a:r>
            <a:endParaRPr lang="en-US" sz="732" dirty="0"/>
          </a:p>
        </p:txBody>
      </p:sp>
      <p:sp>
        <p:nvSpPr>
          <p:cNvPr id="54" name="Shape 49"/>
          <p:cNvSpPr/>
          <p:nvPr/>
        </p:nvSpPr>
        <p:spPr>
          <a:xfrm>
            <a:off x="4984663" y="2348508"/>
            <a:ext cx="185235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0"/>
          <p:cNvSpPr/>
          <p:nvPr/>
        </p:nvSpPr>
        <p:spPr>
          <a:xfrm>
            <a:off x="4984663" y="2348508"/>
            <a:ext cx="18523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PK</a:t>
            </a:r>
            <a:endParaRPr lang="en-US" sz="575" dirty="0"/>
          </a:p>
        </p:txBody>
      </p:sp>
      <p:sp>
        <p:nvSpPr>
          <p:cNvPr id="56" name="Text 51"/>
          <p:cNvSpPr/>
          <p:nvPr/>
        </p:nvSpPr>
        <p:spPr>
          <a:xfrm>
            <a:off x="3452803" y="2548533"/>
            <a:ext cx="93809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PatientId</a:t>
            </a:r>
            <a:endParaRPr lang="en-US" sz="732" dirty="0"/>
          </a:p>
        </p:txBody>
      </p:sp>
      <p:sp>
        <p:nvSpPr>
          <p:cNvPr id="57" name="Text 52"/>
          <p:cNvSpPr/>
          <p:nvPr/>
        </p:nvSpPr>
        <p:spPr>
          <a:xfrm>
            <a:off x="4390895" y="2548533"/>
            <a:ext cx="550906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</a:t>
            </a:r>
            <a:endParaRPr lang="en-US" sz="732" dirty="0"/>
          </a:p>
        </p:txBody>
      </p:sp>
      <p:sp>
        <p:nvSpPr>
          <p:cNvPr id="58" name="Shape 53"/>
          <p:cNvSpPr/>
          <p:nvPr/>
        </p:nvSpPr>
        <p:spPr>
          <a:xfrm>
            <a:off x="4984663" y="2611041"/>
            <a:ext cx="178845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4"/>
          <p:cNvSpPr/>
          <p:nvPr/>
        </p:nvSpPr>
        <p:spPr>
          <a:xfrm>
            <a:off x="4984663" y="2611041"/>
            <a:ext cx="17884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FK</a:t>
            </a:r>
            <a:endParaRPr lang="en-US" sz="575" dirty="0"/>
          </a:p>
        </p:txBody>
      </p:sp>
      <p:sp>
        <p:nvSpPr>
          <p:cNvPr id="60" name="Text 55"/>
          <p:cNvSpPr/>
          <p:nvPr/>
        </p:nvSpPr>
        <p:spPr>
          <a:xfrm>
            <a:off x="3452803" y="2811066"/>
            <a:ext cx="93809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VisitNumber</a:t>
            </a:r>
            <a:endParaRPr lang="en-US" sz="732" dirty="0"/>
          </a:p>
        </p:txBody>
      </p:sp>
      <p:sp>
        <p:nvSpPr>
          <p:cNvPr id="61" name="Text 56"/>
          <p:cNvSpPr/>
          <p:nvPr/>
        </p:nvSpPr>
        <p:spPr>
          <a:xfrm>
            <a:off x="4390895" y="2811066"/>
            <a:ext cx="550906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Text(20)</a:t>
            </a:r>
            <a:endParaRPr lang="en-US" sz="732" dirty="0"/>
          </a:p>
        </p:txBody>
      </p:sp>
      <p:sp>
        <p:nvSpPr>
          <p:cNvPr id="62" name="Shape 57"/>
          <p:cNvSpPr/>
          <p:nvPr/>
        </p:nvSpPr>
        <p:spPr>
          <a:xfrm>
            <a:off x="4984663" y="2873573"/>
            <a:ext cx="439675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58"/>
          <p:cNvSpPr/>
          <p:nvPr/>
        </p:nvSpPr>
        <p:spPr>
          <a:xfrm>
            <a:off x="4984663" y="2873573"/>
            <a:ext cx="43967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Auto-gen</a:t>
            </a:r>
            <a:endParaRPr lang="en-US" sz="575" dirty="0"/>
          </a:p>
        </p:txBody>
      </p:sp>
      <p:sp>
        <p:nvSpPr>
          <p:cNvPr id="64" name="Text 59"/>
          <p:cNvSpPr/>
          <p:nvPr/>
        </p:nvSpPr>
        <p:spPr>
          <a:xfrm>
            <a:off x="3452803" y="3073598"/>
            <a:ext cx="93809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CheckInDateTime</a:t>
            </a:r>
            <a:endParaRPr lang="en-US" sz="732" dirty="0"/>
          </a:p>
        </p:txBody>
      </p:sp>
      <p:sp>
        <p:nvSpPr>
          <p:cNvPr id="65" name="Text 60"/>
          <p:cNvSpPr/>
          <p:nvPr/>
        </p:nvSpPr>
        <p:spPr>
          <a:xfrm>
            <a:off x="4390895" y="3073598"/>
            <a:ext cx="550906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DateTime</a:t>
            </a:r>
            <a:endParaRPr lang="en-US" sz="732" dirty="0"/>
          </a:p>
        </p:txBody>
      </p:sp>
      <p:sp>
        <p:nvSpPr>
          <p:cNvPr id="66" name="Shape 61"/>
          <p:cNvSpPr/>
          <p:nvPr/>
        </p:nvSpPr>
        <p:spPr>
          <a:xfrm>
            <a:off x="4984663" y="3136106"/>
            <a:ext cx="432113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2"/>
          <p:cNvSpPr/>
          <p:nvPr/>
        </p:nvSpPr>
        <p:spPr>
          <a:xfrm>
            <a:off x="4984663" y="3136106"/>
            <a:ext cx="432113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Required</a:t>
            </a:r>
            <a:endParaRPr lang="en-US" sz="575" dirty="0"/>
          </a:p>
        </p:txBody>
      </p:sp>
      <p:sp>
        <p:nvSpPr>
          <p:cNvPr id="68" name="Text 63"/>
          <p:cNvSpPr/>
          <p:nvPr/>
        </p:nvSpPr>
        <p:spPr>
          <a:xfrm>
            <a:off x="3452803" y="3336131"/>
            <a:ext cx="93809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DepartmentId</a:t>
            </a:r>
            <a:endParaRPr lang="en-US" sz="732" dirty="0"/>
          </a:p>
        </p:txBody>
      </p:sp>
      <p:sp>
        <p:nvSpPr>
          <p:cNvPr id="69" name="Text 64"/>
          <p:cNvSpPr/>
          <p:nvPr/>
        </p:nvSpPr>
        <p:spPr>
          <a:xfrm>
            <a:off x="4390895" y="3336131"/>
            <a:ext cx="550906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</a:t>
            </a:r>
            <a:endParaRPr lang="en-US" sz="732" dirty="0"/>
          </a:p>
        </p:txBody>
      </p:sp>
      <p:sp>
        <p:nvSpPr>
          <p:cNvPr id="70" name="Shape 65"/>
          <p:cNvSpPr/>
          <p:nvPr/>
        </p:nvSpPr>
        <p:spPr>
          <a:xfrm>
            <a:off x="4984663" y="3398639"/>
            <a:ext cx="418914" cy="146447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6"/>
          <p:cNvSpPr/>
          <p:nvPr/>
        </p:nvSpPr>
        <p:spPr>
          <a:xfrm>
            <a:off x="4984663" y="3398639"/>
            <a:ext cx="418914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575" dirty="0"/>
          </a:p>
        </p:txBody>
      </p:sp>
      <p:sp>
        <p:nvSpPr>
          <p:cNvPr id="72" name="Text 67"/>
          <p:cNvSpPr/>
          <p:nvPr/>
        </p:nvSpPr>
        <p:spPr>
          <a:xfrm>
            <a:off x="3452803" y="3598664"/>
            <a:ext cx="938092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DoctorId</a:t>
            </a:r>
            <a:endParaRPr lang="en-US" sz="732" dirty="0"/>
          </a:p>
        </p:txBody>
      </p:sp>
      <p:sp>
        <p:nvSpPr>
          <p:cNvPr id="73" name="Text 68"/>
          <p:cNvSpPr/>
          <p:nvPr/>
        </p:nvSpPr>
        <p:spPr>
          <a:xfrm>
            <a:off x="4390895" y="3598664"/>
            <a:ext cx="550906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</a:t>
            </a:r>
            <a:endParaRPr lang="en-US" sz="732" dirty="0"/>
          </a:p>
        </p:txBody>
      </p:sp>
      <p:sp>
        <p:nvSpPr>
          <p:cNvPr id="74" name="Shape 69"/>
          <p:cNvSpPr/>
          <p:nvPr/>
        </p:nvSpPr>
        <p:spPr>
          <a:xfrm>
            <a:off x="4984663" y="3661172"/>
            <a:ext cx="418914" cy="146447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0"/>
          <p:cNvSpPr/>
          <p:nvPr/>
        </p:nvSpPr>
        <p:spPr>
          <a:xfrm>
            <a:off x="4984663" y="3661172"/>
            <a:ext cx="418914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575" dirty="0"/>
          </a:p>
        </p:txBody>
      </p:sp>
      <p:sp>
        <p:nvSpPr>
          <p:cNvPr id="76" name="Text 71"/>
          <p:cNvSpPr/>
          <p:nvPr/>
        </p:nvSpPr>
        <p:spPr>
          <a:xfrm>
            <a:off x="3452803" y="3861197"/>
            <a:ext cx="938092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VisitStatus</a:t>
            </a:r>
            <a:endParaRPr lang="en-US" sz="732" dirty="0"/>
          </a:p>
        </p:txBody>
      </p:sp>
      <p:sp>
        <p:nvSpPr>
          <p:cNvPr id="77" name="Text 72"/>
          <p:cNvSpPr/>
          <p:nvPr/>
        </p:nvSpPr>
        <p:spPr>
          <a:xfrm>
            <a:off x="4390895" y="3861197"/>
            <a:ext cx="550906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Text(20)</a:t>
            </a:r>
            <a:endParaRPr lang="en-US" sz="732" dirty="0"/>
          </a:p>
        </p:txBody>
      </p:sp>
      <p:sp>
        <p:nvSpPr>
          <p:cNvPr id="78" name="Shape 73"/>
          <p:cNvSpPr/>
          <p:nvPr/>
        </p:nvSpPr>
        <p:spPr>
          <a:xfrm>
            <a:off x="4984663" y="3923705"/>
            <a:ext cx="646956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4"/>
          <p:cNvSpPr/>
          <p:nvPr/>
        </p:nvSpPr>
        <p:spPr>
          <a:xfrm>
            <a:off x="4984663" y="3923705"/>
            <a:ext cx="646956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Default: Active</a:t>
            </a:r>
            <a:endParaRPr lang="en-US" sz="575" dirty="0"/>
          </a:p>
        </p:txBody>
      </p:sp>
      <p:sp>
        <p:nvSpPr>
          <p:cNvPr id="80" name="Shape 75"/>
          <p:cNvSpPr/>
          <p:nvPr/>
        </p:nvSpPr>
        <p:spPr>
          <a:xfrm>
            <a:off x="6048356" y="1042988"/>
            <a:ext cx="2595581" cy="3291483"/>
          </a:xfrm>
          <a:prstGeom prst="rect">
            <a:avLst/>
          </a:prstGeom>
          <a:solidFill>
            <a:srgbClr val="FFFFFF"/>
          </a:solidFill>
          <a:ln w="496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950" y="1253728"/>
            <a:ext cx="192881" cy="171450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6491269" y="1221581"/>
            <a:ext cx="99563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QueueTicket</a:t>
            </a:r>
            <a:endParaRPr lang="en-US" sz="1238" dirty="0"/>
          </a:p>
        </p:txBody>
      </p:sp>
      <p:sp>
        <p:nvSpPr>
          <p:cNvPr id="83" name="Text 77"/>
          <p:cNvSpPr/>
          <p:nvPr/>
        </p:nvSpPr>
        <p:spPr>
          <a:xfrm>
            <a:off x="6226950" y="1564481"/>
            <a:ext cx="22383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Manages queue positions and status transitions for patient flow control </a:t>
            </a:r>
            <a:endParaRPr lang="en-US" sz="837" dirty="0"/>
          </a:p>
        </p:txBody>
      </p:sp>
      <p:sp>
        <p:nvSpPr>
          <p:cNvPr id="84" name="Shape 78"/>
          <p:cNvSpPr/>
          <p:nvPr/>
        </p:nvSpPr>
        <p:spPr>
          <a:xfrm>
            <a:off x="6226950" y="2035969"/>
            <a:ext cx="1056047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79"/>
          <p:cNvSpPr/>
          <p:nvPr/>
        </p:nvSpPr>
        <p:spPr>
          <a:xfrm>
            <a:off x="6226950" y="2035969"/>
            <a:ext cx="1056047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Attribute</a:t>
            </a:r>
            <a:endParaRPr lang="en-US" sz="680" dirty="0"/>
          </a:p>
        </p:txBody>
      </p:sp>
      <p:sp>
        <p:nvSpPr>
          <p:cNvPr id="86" name="Shape 80"/>
          <p:cNvSpPr/>
          <p:nvPr/>
        </p:nvSpPr>
        <p:spPr>
          <a:xfrm>
            <a:off x="7282997" y="2035969"/>
            <a:ext cx="571640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Text 81"/>
          <p:cNvSpPr/>
          <p:nvPr/>
        </p:nvSpPr>
        <p:spPr>
          <a:xfrm>
            <a:off x="7282997" y="2035969"/>
            <a:ext cx="571640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</a:t>
            </a:r>
            <a:endParaRPr lang="en-US" sz="680" dirty="0"/>
          </a:p>
        </p:txBody>
      </p:sp>
      <p:sp>
        <p:nvSpPr>
          <p:cNvPr id="88" name="Shape 82"/>
          <p:cNvSpPr/>
          <p:nvPr/>
        </p:nvSpPr>
        <p:spPr>
          <a:xfrm>
            <a:off x="7854637" y="2035969"/>
            <a:ext cx="610707" cy="25360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3"/>
          <p:cNvSpPr/>
          <p:nvPr/>
        </p:nvSpPr>
        <p:spPr>
          <a:xfrm>
            <a:off x="7854637" y="2035969"/>
            <a:ext cx="610707" cy="253603"/>
          </a:xfrm>
          <a:prstGeom prst="rect">
            <a:avLst/>
          </a:prstGeom>
          <a:noFill/>
          <a:ln/>
        </p:spPr>
        <p:txBody>
          <a:bodyPr wrap="square" lIns="51054" tIns="68072" rIns="51054" bIns="68072" rtlCol="0" anchor="ctr">
            <a:sp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</a:t>
            </a:r>
            <a:endParaRPr lang="en-US" sz="680" dirty="0"/>
          </a:p>
        </p:txBody>
      </p:sp>
      <p:sp>
        <p:nvSpPr>
          <p:cNvPr id="90" name="Text 84"/>
          <p:cNvSpPr/>
          <p:nvPr/>
        </p:nvSpPr>
        <p:spPr>
          <a:xfrm>
            <a:off x="6226950" y="2289572"/>
            <a:ext cx="1056047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QueueTicketId</a:t>
            </a:r>
            <a:endParaRPr lang="en-US" sz="732" dirty="0"/>
          </a:p>
        </p:txBody>
      </p:sp>
      <p:sp>
        <p:nvSpPr>
          <p:cNvPr id="91" name="Text 85"/>
          <p:cNvSpPr/>
          <p:nvPr/>
        </p:nvSpPr>
        <p:spPr>
          <a:xfrm>
            <a:off x="7282997" y="2289572"/>
            <a:ext cx="571640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</a:t>
            </a:r>
            <a:endParaRPr lang="en-US" sz="732" dirty="0"/>
          </a:p>
        </p:txBody>
      </p:sp>
      <p:sp>
        <p:nvSpPr>
          <p:cNvPr id="92" name="Shape 86"/>
          <p:cNvSpPr/>
          <p:nvPr/>
        </p:nvSpPr>
        <p:spPr>
          <a:xfrm>
            <a:off x="7897499" y="2348508"/>
            <a:ext cx="185235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7"/>
          <p:cNvSpPr/>
          <p:nvPr/>
        </p:nvSpPr>
        <p:spPr>
          <a:xfrm>
            <a:off x="7897499" y="2348508"/>
            <a:ext cx="18523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PK</a:t>
            </a:r>
            <a:endParaRPr lang="en-US" sz="575" dirty="0"/>
          </a:p>
        </p:txBody>
      </p:sp>
      <p:sp>
        <p:nvSpPr>
          <p:cNvPr id="94" name="Text 88"/>
          <p:cNvSpPr/>
          <p:nvPr/>
        </p:nvSpPr>
        <p:spPr>
          <a:xfrm>
            <a:off x="6226950" y="2548533"/>
            <a:ext cx="1056047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VisitId</a:t>
            </a:r>
            <a:endParaRPr lang="en-US" sz="732" dirty="0"/>
          </a:p>
        </p:txBody>
      </p:sp>
      <p:sp>
        <p:nvSpPr>
          <p:cNvPr id="95" name="Text 89"/>
          <p:cNvSpPr/>
          <p:nvPr/>
        </p:nvSpPr>
        <p:spPr>
          <a:xfrm>
            <a:off x="7282997" y="2548533"/>
            <a:ext cx="571640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Identifier</a:t>
            </a:r>
            <a:endParaRPr lang="en-US" sz="732" dirty="0"/>
          </a:p>
        </p:txBody>
      </p:sp>
      <p:sp>
        <p:nvSpPr>
          <p:cNvPr id="96" name="Shape 90"/>
          <p:cNvSpPr/>
          <p:nvPr/>
        </p:nvSpPr>
        <p:spPr>
          <a:xfrm>
            <a:off x="7897499" y="2611041"/>
            <a:ext cx="178845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Text 91"/>
          <p:cNvSpPr/>
          <p:nvPr/>
        </p:nvSpPr>
        <p:spPr>
          <a:xfrm>
            <a:off x="7897499" y="2611041"/>
            <a:ext cx="178845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FK</a:t>
            </a:r>
            <a:endParaRPr lang="en-US" sz="575" dirty="0"/>
          </a:p>
        </p:txBody>
      </p:sp>
      <p:sp>
        <p:nvSpPr>
          <p:cNvPr id="98" name="Text 92"/>
          <p:cNvSpPr/>
          <p:nvPr/>
        </p:nvSpPr>
        <p:spPr>
          <a:xfrm>
            <a:off x="6226950" y="2811066"/>
            <a:ext cx="1056047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TicketNumber</a:t>
            </a:r>
            <a:endParaRPr lang="en-US" sz="732" dirty="0"/>
          </a:p>
        </p:txBody>
      </p:sp>
      <p:sp>
        <p:nvSpPr>
          <p:cNvPr id="99" name="Text 93"/>
          <p:cNvSpPr/>
          <p:nvPr/>
        </p:nvSpPr>
        <p:spPr>
          <a:xfrm>
            <a:off x="7282997" y="2811066"/>
            <a:ext cx="571640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Text(20)</a:t>
            </a:r>
            <a:endParaRPr lang="en-US" sz="732" dirty="0"/>
          </a:p>
        </p:txBody>
      </p:sp>
      <p:sp>
        <p:nvSpPr>
          <p:cNvPr id="100" name="Shape 94"/>
          <p:cNvSpPr/>
          <p:nvPr/>
        </p:nvSpPr>
        <p:spPr>
          <a:xfrm>
            <a:off x="7897499" y="2873573"/>
            <a:ext cx="362741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95"/>
          <p:cNvSpPr/>
          <p:nvPr/>
        </p:nvSpPr>
        <p:spPr>
          <a:xfrm>
            <a:off x="7897499" y="2873573"/>
            <a:ext cx="362741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Unique</a:t>
            </a:r>
            <a:endParaRPr lang="en-US" sz="575" dirty="0"/>
          </a:p>
        </p:txBody>
      </p:sp>
      <p:sp>
        <p:nvSpPr>
          <p:cNvPr id="102" name="Text 96"/>
          <p:cNvSpPr/>
          <p:nvPr/>
        </p:nvSpPr>
        <p:spPr>
          <a:xfrm>
            <a:off x="6226950" y="3073598"/>
            <a:ext cx="1056047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QueueStatus</a:t>
            </a:r>
            <a:endParaRPr lang="en-US" sz="732" dirty="0"/>
          </a:p>
        </p:txBody>
      </p:sp>
      <p:sp>
        <p:nvSpPr>
          <p:cNvPr id="103" name="Text 97"/>
          <p:cNvSpPr/>
          <p:nvPr/>
        </p:nvSpPr>
        <p:spPr>
          <a:xfrm>
            <a:off x="7282997" y="3073598"/>
            <a:ext cx="571640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Text(20)</a:t>
            </a:r>
            <a:endParaRPr lang="en-US" sz="732" dirty="0"/>
          </a:p>
        </p:txBody>
      </p:sp>
      <p:sp>
        <p:nvSpPr>
          <p:cNvPr id="104" name="Shape 98"/>
          <p:cNvSpPr/>
          <p:nvPr/>
        </p:nvSpPr>
        <p:spPr>
          <a:xfrm>
            <a:off x="7897499" y="3136106"/>
            <a:ext cx="432113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99"/>
          <p:cNvSpPr/>
          <p:nvPr/>
        </p:nvSpPr>
        <p:spPr>
          <a:xfrm>
            <a:off x="7897499" y="3136106"/>
            <a:ext cx="432113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Required</a:t>
            </a:r>
            <a:endParaRPr lang="en-US" sz="575" dirty="0"/>
          </a:p>
        </p:txBody>
      </p:sp>
      <p:sp>
        <p:nvSpPr>
          <p:cNvPr id="106" name="Text 100"/>
          <p:cNvSpPr/>
          <p:nvPr/>
        </p:nvSpPr>
        <p:spPr>
          <a:xfrm>
            <a:off x="6226950" y="3336131"/>
            <a:ext cx="1056047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QueuePosition</a:t>
            </a:r>
            <a:endParaRPr lang="en-US" sz="732" dirty="0"/>
          </a:p>
        </p:txBody>
      </p:sp>
      <p:sp>
        <p:nvSpPr>
          <p:cNvPr id="107" name="Text 101"/>
          <p:cNvSpPr/>
          <p:nvPr/>
        </p:nvSpPr>
        <p:spPr>
          <a:xfrm>
            <a:off x="7282997" y="3336131"/>
            <a:ext cx="571640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Integer</a:t>
            </a:r>
            <a:endParaRPr lang="en-US" sz="732" dirty="0"/>
          </a:p>
        </p:txBody>
      </p:sp>
      <p:sp>
        <p:nvSpPr>
          <p:cNvPr id="108" name="Shape 102"/>
          <p:cNvSpPr/>
          <p:nvPr/>
        </p:nvSpPr>
        <p:spPr>
          <a:xfrm>
            <a:off x="7897499" y="3398639"/>
            <a:ext cx="269063" cy="14644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9" name="Text 103"/>
          <p:cNvSpPr/>
          <p:nvPr/>
        </p:nvSpPr>
        <p:spPr>
          <a:xfrm>
            <a:off x="7897499" y="3398639"/>
            <a:ext cx="269063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</a:t>
            </a:r>
            <a:endParaRPr lang="en-US" sz="575" dirty="0"/>
          </a:p>
        </p:txBody>
      </p:sp>
      <p:sp>
        <p:nvSpPr>
          <p:cNvPr id="110" name="Text 104"/>
          <p:cNvSpPr/>
          <p:nvPr/>
        </p:nvSpPr>
        <p:spPr>
          <a:xfrm>
            <a:off x="6226950" y="3598664"/>
            <a:ext cx="1056047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EstimatedWaitTime</a:t>
            </a:r>
            <a:endParaRPr lang="en-US" sz="732" dirty="0"/>
          </a:p>
        </p:txBody>
      </p:sp>
      <p:sp>
        <p:nvSpPr>
          <p:cNvPr id="111" name="Text 105"/>
          <p:cNvSpPr/>
          <p:nvPr/>
        </p:nvSpPr>
        <p:spPr>
          <a:xfrm>
            <a:off x="7282997" y="3598664"/>
            <a:ext cx="571640" cy="262533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Integer</a:t>
            </a:r>
            <a:endParaRPr lang="en-US" sz="732" dirty="0"/>
          </a:p>
        </p:txBody>
      </p:sp>
      <p:sp>
        <p:nvSpPr>
          <p:cNvPr id="112" name="Shape 106"/>
          <p:cNvSpPr/>
          <p:nvPr/>
        </p:nvSpPr>
        <p:spPr>
          <a:xfrm>
            <a:off x="7897499" y="3661172"/>
            <a:ext cx="489738" cy="146447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107"/>
          <p:cNvSpPr/>
          <p:nvPr/>
        </p:nvSpPr>
        <p:spPr>
          <a:xfrm>
            <a:off x="7897499" y="3661172"/>
            <a:ext cx="489738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Calculated</a:t>
            </a:r>
            <a:endParaRPr lang="en-US" sz="575" dirty="0"/>
          </a:p>
        </p:txBody>
      </p:sp>
      <p:sp>
        <p:nvSpPr>
          <p:cNvPr id="114" name="Text 108"/>
          <p:cNvSpPr/>
          <p:nvPr/>
        </p:nvSpPr>
        <p:spPr>
          <a:xfrm>
            <a:off x="6226950" y="3861197"/>
            <a:ext cx="1056047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CalledOn</a:t>
            </a:r>
            <a:endParaRPr lang="en-US" sz="732" dirty="0"/>
          </a:p>
        </p:txBody>
      </p:sp>
      <p:sp>
        <p:nvSpPr>
          <p:cNvPr id="115" name="Text 109"/>
          <p:cNvSpPr/>
          <p:nvPr/>
        </p:nvSpPr>
        <p:spPr>
          <a:xfrm>
            <a:off x="7282997" y="3861197"/>
            <a:ext cx="571640" cy="258961"/>
          </a:xfrm>
          <a:prstGeom prst="rect">
            <a:avLst/>
          </a:prstGeom>
          <a:noFill/>
          <a:ln/>
        </p:spPr>
        <p:txBody>
          <a:bodyPr wrap="square" lIns="51054" tIns="59563" rIns="51054" bIns="59563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DateTime</a:t>
            </a:r>
            <a:endParaRPr lang="en-US" sz="732" dirty="0"/>
          </a:p>
        </p:txBody>
      </p:sp>
      <p:sp>
        <p:nvSpPr>
          <p:cNvPr id="116" name="Shape 110"/>
          <p:cNvSpPr/>
          <p:nvPr/>
        </p:nvSpPr>
        <p:spPr>
          <a:xfrm>
            <a:off x="7897499" y="3923705"/>
            <a:ext cx="418914" cy="146447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Text 111"/>
          <p:cNvSpPr/>
          <p:nvPr/>
        </p:nvSpPr>
        <p:spPr>
          <a:xfrm>
            <a:off x="7897499" y="3923705"/>
            <a:ext cx="418914" cy="14644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ctr">
            <a:spAutoFit/>
          </a:bodyPr>
          <a:lstStyle/>
          <a:p>
            <a:pPr marL="0" indent="0">
              <a:buNone/>
            </a:pPr>
            <a:r>
              <a:rPr lang="en-US" sz="575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5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57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57188"/>
            <a:ext cx="8143875" cy="500063"/>
          </a:xfrm>
          <a:prstGeom prst="rect">
            <a:avLst/>
          </a:prstGeom>
          <a:noFill/>
          <a:ln/>
        </p:spPr>
        <p:txBody>
          <a:bodyPr wrap="none" lIns="0" tIns="0" rIns="0" bIns="102108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Supporting Entities &amp; Multi-Channel Support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1007269"/>
            <a:ext cx="4305728" cy="414901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7225" y="1164431"/>
            <a:ext cx="399140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Supporting Entities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57225" y="1720918"/>
            <a:ext cx="321469" cy="3214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023" y="1803071"/>
            <a:ext cx="117872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85850" y="1600200"/>
            <a:ext cx="35627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1085850" y="1843088"/>
            <a:ext cx="356277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Manages clinic departments with codes, names, and average service times</a:t>
            </a:r>
            <a:endParaRPr lang="en-US" sz="837" dirty="0"/>
          </a:p>
        </p:txBody>
      </p:sp>
      <p:sp>
        <p:nvSpPr>
          <p:cNvPr id="10" name="Shape 6"/>
          <p:cNvSpPr/>
          <p:nvPr/>
        </p:nvSpPr>
        <p:spPr>
          <a:xfrm>
            <a:off x="657225" y="2346694"/>
            <a:ext cx="321469" cy="3214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201" y="2428847"/>
            <a:ext cx="137517" cy="1571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85850" y="2305980"/>
            <a:ext cx="35627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</a:t>
            </a:r>
            <a:endParaRPr lang="en-US" sz="1046" dirty="0"/>
          </a:p>
        </p:txBody>
      </p:sp>
      <p:sp>
        <p:nvSpPr>
          <p:cNvPr id="13" name="Text 8"/>
          <p:cNvSpPr/>
          <p:nvPr/>
        </p:nvSpPr>
        <p:spPr>
          <a:xfrm>
            <a:off x="1085850" y="2548868"/>
            <a:ext cx="35627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Stores doctor information, specialization, and availability status</a:t>
            </a:r>
            <a:endParaRPr lang="en-US" sz="837" dirty="0"/>
          </a:p>
        </p:txBody>
      </p:sp>
      <p:sp>
        <p:nvSpPr>
          <p:cNvPr id="14" name="Shape 9"/>
          <p:cNvSpPr/>
          <p:nvPr/>
        </p:nvSpPr>
        <p:spPr>
          <a:xfrm>
            <a:off x="657225" y="2892465"/>
            <a:ext cx="321469" cy="3214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023" y="2974618"/>
            <a:ext cx="117872" cy="1571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85850" y="2851752"/>
            <a:ext cx="35627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CheckInLog</a:t>
            </a:r>
            <a:endParaRPr lang="en-US" sz="1046" dirty="0"/>
          </a:p>
        </p:txBody>
      </p:sp>
      <p:sp>
        <p:nvSpPr>
          <p:cNvPr id="17" name="Text 11"/>
          <p:cNvSpPr/>
          <p:nvPr/>
        </p:nvSpPr>
        <p:spPr>
          <a:xfrm>
            <a:off x="1085850" y="3094639"/>
            <a:ext cx="35627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audit trail of all check-in activities and methods</a:t>
            </a:r>
            <a:endParaRPr lang="en-US" sz="837" dirty="0"/>
          </a:p>
        </p:txBody>
      </p:sp>
      <p:sp>
        <p:nvSpPr>
          <p:cNvPr id="18" name="Shape 12"/>
          <p:cNvSpPr/>
          <p:nvPr/>
        </p:nvSpPr>
        <p:spPr>
          <a:xfrm>
            <a:off x="657225" y="3438237"/>
            <a:ext cx="321469" cy="3214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378" y="3520390"/>
            <a:ext cx="157163" cy="15716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85850" y="3397523"/>
            <a:ext cx="35627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SMSNotification</a:t>
            </a:r>
            <a:endParaRPr lang="en-US" sz="1046" dirty="0"/>
          </a:p>
        </p:txBody>
      </p:sp>
      <p:sp>
        <p:nvSpPr>
          <p:cNvPr id="21" name="Text 14"/>
          <p:cNvSpPr/>
          <p:nvPr/>
        </p:nvSpPr>
        <p:spPr>
          <a:xfrm>
            <a:off x="1085850" y="3640410"/>
            <a:ext cx="35627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Tracks SMS messages sent to patients with delivery status</a:t>
            </a:r>
            <a:endParaRPr lang="en-US" sz="837" dirty="0"/>
          </a:p>
        </p:txBody>
      </p:sp>
      <p:sp>
        <p:nvSpPr>
          <p:cNvPr id="22" name="Shape 15"/>
          <p:cNvSpPr/>
          <p:nvPr/>
        </p:nvSpPr>
        <p:spPr>
          <a:xfrm>
            <a:off x="657225" y="3984008"/>
            <a:ext cx="321469" cy="3214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555" y="4066161"/>
            <a:ext cx="176808" cy="157163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85850" y="3943294"/>
            <a:ext cx="35627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RFIDCard</a:t>
            </a:r>
            <a:endParaRPr lang="en-US" sz="1046" dirty="0"/>
          </a:p>
        </p:txBody>
      </p:sp>
      <p:sp>
        <p:nvSpPr>
          <p:cNvPr id="25" name="Text 17"/>
          <p:cNvSpPr/>
          <p:nvPr/>
        </p:nvSpPr>
        <p:spPr>
          <a:xfrm>
            <a:off x="1085850" y="4186182"/>
            <a:ext cx="35627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Links RFID cards to patients for contactless check-in</a:t>
            </a:r>
            <a:endParaRPr lang="en-US" sz="837" dirty="0"/>
          </a:p>
        </p:txBody>
      </p:sp>
      <p:sp>
        <p:nvSpPr>
          <p:cNvPr id="26" name="Shape 18"/>
          <p:cNvSpPr/>
          <p:nvPr/>
        </p:nvSpPr>
        <p:spPr>
          <a:xfrm>
            <a:off x="657225" y="4529779"/>
            <a:ext cx="321469" cy="3214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201" y="4611932"/>
            <a:ext cx="137517" cy="157163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85850" y="4489066"/>
            <a:ext cx="356277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QRCode</a:t>
            </a:r>
            <a:endParaRPr lang="en-US" sz="1046" dirty="0"/>
          </a:p>
        </p:txBody>
      </p:sp>
      <p:sp>
        <p:nvSpPr>
          <p:cNvPr id="29" name="Text 20"/>
          <p:cNvSpPr/>
          <p:nvPr/>
        </p:nvSpPr>
        <p:spPr>
          <a:xfrm>
            <a:off x="1085850" y="4731953"/>
            <a:ext cx="356277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Generates and manages QR codes for quick mobile check-in</a:t>
            </a:r>
            <a:endParaRPr lang="en-US" sz="837" dirty="0"/>
          </a:p>
        </p:txBody>
      </p:sp>
      <p:sp>
        <p:nvSpPr>
          <p:cNvPr id="30" name="Shape 21"/>
          <p:cNvSpPr/>
          <p:nvPr/>
        </p:nvSpPr>
        <p:spPr>
          <a:xfrm>
            <a:off x="5055822" y="1007269"/>
            <a:ext cx="3588116" cy="436483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2"/>
          <p:cNvSpPr/>
          <p:nvPr/>
        </p:nvSpPr>
        <p:spPr>
          <a:xfrm>
            <a:off x="5212984" y="1164431"/>
            <a:ext cx="327379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Check-In Methods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5212984" y="1546622"/>
            <a:ext cx="785813" cy="30718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5212984" y="1546622"/>
            <a:ext cx="785813" cy="307181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SMS</a:t>
            </a:r>
            <a:endParaRPr lang="en-US" sz="942" dirty="0"/>
          </a:p>
        </p:txBody>
      </p:sp>
      <p:sp>
        <p:nvSpPr>
          <p:cNvPr id="34" name="Text 25"/>
          <p:cNvSpPr/>
          <p:nvPr/>
        </p:nvSpPr>
        <p:spPr>
          <a:xfrm>
            <a:off x="6127384" y="1528763"/>
            <a:ext cx="23593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Text message-based check-in for remote patients</a:t>
            </a:r>
            <a:endParaRPr lang="en-US" sz="837" dirty="0"/>
          </a:p>
        </p:txBody>
      </p:sp>
      <p:sp>
        <p:nvSpPr>
          <p:cNvPr id="35" name="Shape 26"/>
          <p:cNvSpPr/>
          <p:nvPr/>
        </p:nvSpPr>
        <p:spPr>
          <a:xfrm>
            <a:off x="5212984" y="1971675"/>
            <a:ext cx="791087" cy="30718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7"/>
          <p:cNvSpPr/>
          <p:nvPr/>
        </p:nvSpPr>
        <p:spPr>
          <a:xfrm>
            <a:off x="5212984" y="1971675"/>
            <a:ext cx="791087" cy="307181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 Code</a:t>
            </a:r>
            <a:endParaRPr lang="en-US" sz="942" dirty="0"/>
          </a:p>
        </p:txBody>
      </p:sp>
      <p:sp>
        <p:nvSpPr>
          <p:cNvPr id="37" name="Text 28"/>
          <p:cNvSpPr/>
          <p:nvPr/>
        </p:nvSpPr>
        <p:spPr>
          <a:xfrm>
            <a:off x="6132658" y="2039541"/>
            <a:ext cx="21786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Scan QR codes via mobile app or posters</a:t>
            </a:r>
            <a:endParaRPr lang="en-US" sz="837" dirty="0"/>
          </a:p>
        </p:txBody>
      </p:sp>
      <p:sp>
        <p:nvSpPr>
          <p:cNvPr id="38" name="Shape 29"/>
          <p:cNvSpPr/>
          <p:nvPr/>
        </p:nvSpPr>
        <p:spPr>
          <a:xfrm>
            <a:off x="5212984" y="2378869"/>
            <a:ext cx="785813" cy="30718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5212984" y="2378869"/>
            <a:ext cx="785813" cy="307181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RFID</a:t>
            </a:r>
            <a:endParaRPr lang="en-US" sz="942" dirty="0"/>
          </a:p>
        </p:txBody>
      </p:sp>
      <p:sp>
        <p:nvSpPr>
          <p:cNvPr id="40" name="Text 31"/>
          <p:cNvSpPr/>
          <p:nvPr/>
        </p:nvSpPr>
        <p:spPr>
          <a:xfrm>
            <a:off x="6127384" y="2446734"/>
            <a:ext cx="22351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Tap RFID card at kiosk for instant check-in</a:t>
            </a:r>
            <a:endParaRPr lang="en-US" sz="837" dirty="0"/>
          </a:p>
        </p:txBody>
      </p:sp>
      <p:sp>
        <p:nvSpPr>
          <p:cNvPr id="41" name="Shape 32"/>
          <p:cNvSpPr/>
          <p:nvPr/>
        </p:nvSpPr>
        <p:spPr>
          <a:xfrm>
            <a:off x="5212984" y="2803922"/>
            <a:ext cx="785813" cy="30718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3"/>
          <p:cNvSpPr/>
          <p:nvPr/>
        </p:nvSpPr>
        <p:spPr>
          <a:xfrm>
            <a:off x="5212984" y="2803922"/>
            <a:ext cx="785813" cy="307181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</a:t>
            </a:r>
            <a:endParaRPr lang="en-US" sz="942" dirty="0"/>
          </a:p>
        </p:txBody>
      </p:sp>
      <p:sp>
        <p:nvSpPr>
          <p:cNvPr id="43" name="Text 34"/>
          <p:cNvSpPr/>
          <p:nvPr/>
        </p:nvSpPr>
        <p:spPr>
          <a:xfrm>
            <a:off x="6127384" y="2786063"/>
            <a:ext cx="23593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Browser-based check-in form on clinic website</a:t>
            </a:r>
            <a:endParaRPr lang="en-US" sz="837" dirty="0"/>
          </a:p>
        </p:txBody>
      </p:sp>
      <p:sp>
        <p:nvSpPr>
          <p:cNvPr id="44" name="Shape 35"/>
          <p:cNvSpPr/>
          <p:nvPr/>
        </p:nvSpPr>
        <p:spPr>
          <a:xfrm>
            <a:off x="5212984" y="3228975"/>
            <a:ext cx="785813" cy="307181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5212984" y="3228975"/>
            <a:ext cx="785813" cy="307181"/>
          </a:xfrm>
          <a:prstGeom prst="rect">
            <a:avLst/>
          </a:prstGeom>
          <a:noFill/>
          <a:ln/>
        </p:spPr>
        <p:txBody>
          <a:bodyPr wrap="square" lIns="153035" tIns="68072" rIns="153035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</a:t>
            </a:r>
            <a:endParaRPr lang="en-US" sz="942" dirty="0"/>
          </a:p>
        </p:txBody>
      </p:sp>
      <p:sp>
        <p:nvSpPr>
          <p:cNvPr id="46" name="Text 37"/>
          <p:cNvSpPr/>
          <p:nvPr/>
        </p:nvSpPr>
        <p:spPr>
          <a:xfrm>
            <a:off x="6127384" y="3296841"/>
            <a:ext cx="21950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Native mobile app for on-the-go check-in</a:t>
            </a:r>
            <a:endParaRPr lang="en-US" sz="837" dirty="0"/>
          </a:p>
        </p:txBody>
      </p:sp>
      <p:sp>
        <p:nvSpPr>
          <p:cNvPr id="47" name="Shape 38"/>
          <p:cNvSpPr/>
          <p:nvPr/>
        </p:nvSpPr>
        <p:spPr>
          <a:xfrm>
            <a:off x="5212984" y="3643313"/>
            <a:ext cx="3273791" cy="157162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2984" y="3643313"/>
            <a:ext cx="3273791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906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21469"/>
            <a:ext cx="8143875" cy="485775"/>
          </a:xfrm>
          <a:prstGeom prst="rect">
            <a:avLst/>
          </a:prstGeom>
          <a:noFill/>
          <a:ln/>
        </p:spPr>
        <p:txBody>
          <a:bodyPr wrap="none" lIns="0" tIns="0" rIns="0" bIns="8509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 Actions: Business Logic Layer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957263"/>
            <a:ext cx="3982641" cy="922939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0075" y="1057275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0075" y="105727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942975" y="1057275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CheckInPatient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942975" y="1278731"/>
            <a:ext cx="34397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Universal check-in endpoint for all methods (SMS, QR, RFID, Web, Mobile). Validates patient, creates visit, generates ticket, and triggers notifications.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4661297" y="957263"/>
            <a:ext cx="3982641" cy="922939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61309" y="1057275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61309" y="1057275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5104209" y="1057275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GetQueueList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104209" y="1278731"/>
            <a:ext cx="34397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Retrieves current queue for dashboards with filters by department, doctor, and status. Returns patient details and wait times.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500063" y="1965927"/>
            <a:ext cx="3982641" cy="922939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0075" y="2065939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0075" y="2065939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942975" y="2065939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UpdateQueueStatus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942975" y="2287395"/>
            <a:ext cx="34397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Updates ticket status through workflow (WAITING → CALLED → IN_PROGRESS → COMPLETED). Validates transitions and recalculates queue positions.</a:t>
            </a:r>
            <a:endParaRPr lang="en-US" sz="837" dirty="0"/>
          </a:p>
        </p:txBody>
      </p:sp>
      <p:sp>
        <p:nvSpPr>
          <p:cNvPr id="19" name="Shape 16"/>
          <p:cNvSpPr/>
          <p:nvPr/>
        </p:nvSpPr>
        <p:spPr>
          <a:xfrm>
            <a:off x="4661297" y="1965927"/>
            <a:ext cx="3982641" cy="901508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61309" y="2065939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61309" y="2065939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5104209" y="2065939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CalculateETA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104209" y="2287395"/>
            <a:ext cx="343971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Calculates estimated wait time based on queue position, tickets ahead, and average service time per department.</a:t>
            </a:r>
            <a:endParaRPr lang="en-US" sz="837" dirty="0"/>
          </a:p>
        </p:txBody>
      </p:sp>
      <p:sp>
        <p:nvSpPr>
          <p:cNvPr id="24" name="Shape 21"/>
          <p:cNvSpPr/>
          <p:nvPr/>
        </p:nvSpPr>
        <p:spPr>
          <a:xfrm>
            <a:off x="500063" y="2974591"/>
            <a:ext cx="3982641" cy="922939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00075" y="3074603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00075" y="307460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942975" y="3074603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GenerateTicketNumber</a:t>
            </a:r>
            <a:endParaRPr lang="en-US" sz="942" dirty="0"/>
          </a:p>
        </p:txBody>
      </p:sp>
      <p:sp>
        <p:nvSpPr>
          <p:cNvPr id="28" name="Text 25"/>
          <p:cNvSpPr/>
          <p:nvPr/>
        </p:nvSpPr>
        <p:spPr>
          <a:xfrm>
            <a:off x="942975" y="3296059"/>
            <a:ext cx="343971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Generates unique sequential ticket numbers with department code prefix (e.g., "FD-101"). Ensures uniqueness with retry logic.</a:t>
            </a:r>
            <a:endParaRPr lang="en-US" sz="837" dirty="0"/>
          </a:p>
        </p:txBody>
      </p:sp>
      <p:sp>
        <p:nvSpPr>
          <p:cNvPr id="29" name="Shape 26"/>
          <p:cNvSpPr/>
          <p:nvPr/>
        </p:nvSpPr>
        <p:spPr>
          <a:xfrm>
            <a:off x="4661297" y="2974591"/>
            <a:ext cx="3982641" cy="922939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761309" y="3074603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61309" y="3074603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5104209" y="3074603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SendSMSNotification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5104209" y="3296059"/>
            <a:ext cx="34397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Sends SMS to patients via external API (Twilio). Supports multiple message types: check-in confirmation, status updates, and call notifications.</a:t>
            </a:r>
            <a:endParaRPr lang="en-US" sz="837" dirty="0"/>
          </a:p>
        </p:txBody>
      </p:sp>
      <p:sp>
        <p:nvSpPr>
          <p:cNvPr id="34" name="Shape 31"/>
          <p:cNvSpPr/>
          <p:nvPr/>
        </p:nvSpPr>
        <p:spPr>
          <a:xfrm>
            <a:off x="500063" y="3983255"/>
            <a:ext cx="3982641" cy="762930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00075" y="4083267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00075" y="4083267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942975" y="4083267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ValidateRFIDCard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942975" y="4304723"/>
            <a:ext cx="343971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Validates RFID card number, retrieves linked patient, updates last used timestamp, and returns patient details for check-in.</a:t>
            </a:r>
            <a:endParaRPr lang="en-US" sz="837" dirty="0"/>
          </a:p>
        </p:txBody>
      </p:sp>
      <p:sp>
        <p:nvSpPr>
          <p:cNvPr id="39" name="Shape 36"/>
          <p:cNvSpPr/>
          <p:nvPr/>
        </p:nvSpPr>
        <p:spPr>
          <a:xfrm>
            <a:off x="4661297" y="3983255"/>
            <a:ext cx="3982641" cy="762930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761309" y="4083267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761309" y="4083267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837" dirty="0"/>
          </a:p>
        </p:txBody>
      </p:sp>
      <p:sp>
        <p:nvSpPr>
          <p:cNvPr id="42" name="Text 39"/>
          <p:cNvSpPr/>
          <p:nvPr/>
        </p:nvSpPr>
        <p:spPr>
          <a:xfrm>
            <a:off x="5104209" y="4083267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ValidateQRCode</a:t>
            </a:r>
            <a:endParaRPr lang="en-US" sz="942" dirty="0"/>
          </a:p>
        </p:txBody>
      </p:sp>
      <p:sp>
        <p:nvSpPr>
          <p:cNvPr id="43" name="Text 40"/>
          <p:cNvSpPr/>
          <p:nvPr/>
        </p:nvSpPr>
        <p:spPr>
          <a:xfrm>
            <a:off x="5104209" y="4304723"/>
            <a:ext cx="343971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Validates QR code value, checks expiration for dynamic codes, increments usage count, and returns department information.</a:t>
            </a:r>
            <a:endParaRPr lang="en-US" sz="837" dirty="0"/>
          </a:p>
        </p:txBody>
      </p:sp>
      <p:sp>
        <p:nvSpPr>
          <p:cNvPr id="44" name="Shape 41"/>
          <p:cNvSpPr/>
          <p:nvPr/>
        </p:nvSpPr>
        <p:spPr>
          <a:xfrm>
            <a:off x="500063" y="4831910"/>
            <a:ext cx="3982641" cy="922939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600075" y="4931922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600075" y="493192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837" dirty="0"/>
          </a:p>
        </p:txBody>
      </p:sp>
      <p:sp>
        <p:nvSpPr>
          <p:cNvPr id="47" name="Text 44"/>
          <p:cNvSpPr/>
          <p:nvPr/>
        </p:nvSpPr>
        <p:spPr>
          <a:xfrm>
            <a:off x="942975" y="4931922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GetDashboardStats</a:t>
            </a:r>
            <a:endParaRPr lang="en-US" sz="942" dirty="0"/>
          </a:p>
        </p:txBody>
      </p:sp>
      <p:sp>
        <p:nvSpPr>
          <p:cNvPr id="48" name="Text 45"/>
          <p:cNvSpPr/>
          <p:nvPr/>
        </p:nvSpPr>
        <p:spPr>
          <a:xfrm>
            <a:off x="942975" y="5153378"/>
            <a:ext cx="34397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Retrieves real-time statistics for dashboards: total waiting, called, in-progress, completed today, and average wait time by department/doctor.</a:t>
            </a:r>
            <a:endParaRPr lang="en-US" sz="837" dirty="0"/>
          </a:p>
        </p:txBody>
      </p:sp>
      <p:sp>
        <p:nvSpPr>
          <p:cNvPr id="49" name="Shape 46"/>
          <p:cNvSpPr/>
          <p:nvPr/>
        </p:nvSpPr>
        <p:spPr>
          <a:xfrm>
            <a:off x="4661297" y="4831910"/>
            <a:ext cx="3982641" cy="922939"/>
          </a:xfrm>
          <a:prstGeom prst="rect">
            <a:avLst/>
          </a:prstGeom>
          <a:solidFill>
            <a:srgbClr val="FFFFFF"/>
          </a:solidFill>
          <a:ln w="298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761309" y="4931922"/>
            <a:ext cx="257175" cy="257175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4761309" y="493192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837" dirty="0"/>
          </a:p>
        </p:txBody>
      </p:sp>
      <p:sp>
        <p:nvSpPr>
          <p:cNvPr id="52" name="Text 49"/>
          <p:cNvSpPr/>
          <p:nvPr/>
        </p:nvSpPr>
        <p:spPr>
          <a:xfrm>
            <a:off x="5104209" y="4931922"/>
            <a:ext cx="34397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GetPatientHistory</a:t>
            </a:r>
            <a:endParaRPr lang="en-US" sz="942" dirty="0"/>
          </a:p>
        </p:txBody>
      </p:sp>
      <p:sp>
        <p:nvSpPr>
          <p:cNvPr id="53" name="Text 50"/>
          <p:cNvSpPr/>
          <p:nvPr/>
        </p:nvSpPr>
        <p:spPr>
          <a:xfrm>
            <a:off x="5104209" y="5153378"/>
            <a:ext cx="343971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Retrieves patient's visit history with queue ticket details, ordered by check-in date. Supports pagination with configurable record limits.</a:t>
            </a:r>
            <a:endParaRPr lang="en-US" sz="83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2353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285750"/>
            <a:ext cx="8143875" cy="471488"/>
          </a:xfrm>
          <a:prstGeom prst="rect">
            <a:avLst/>
          </a:prstGeom>
          <a:noFill/>
          <a:ln/>
        </p:spPr>
        <p:txBody>
          <a:bodyPr wrap="none" lIns="0" tIns="0" rIns="0" bIns="68072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Check-In Workflow &amp; Logic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871538"/>
            <a:ext cx="3604329" cy="26074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1025128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2963" y="985838"/>
            <a:ext cx="139074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Input Parameters</a:t>
            </a:r>
            <a:endParaRPr lang="en-US" sz="1238" dirty="0"/>
          </a:p>
        </p:txBody>
      </p:sp>
      <p:sp>
        <p:nvSpPr>
          <p:cNvPr id="7" name="Shape 3"/>
          <p:cNvSpPr/>
          <p:nvPr/>
        </p:nvSpPr>
        <p:spPr>
          <a:xfrm>
            <a:off x="614363" y="1307306"/>
            <a:ext cx="3375729" cy="2571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85800" y="1357313"/>
            <a:ext cx="8326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PhoneNumber 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1575643" y="1384921"/>
            <a:ext cx="445635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chemeClr val="accent2">
                    <a:lumMod val="50000"/>
                  </a:scheme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Mandatory</a:t>
            </a:r>
            <a:endParaRPr lang="en-US" sz="732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614363" y="1607344"/>
            <a:ext cx="3375729" cy="2571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85800" y="1657350"/>
            <a:ext cx="7494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PatientName 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1492430" y="1684958"/>
            <a:ext cx="34785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chemeClr val="accent2">
                    <a:lumMod val="50000"/>
                  </a:scheme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732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4363" y="1907381"/>
            <a:ext cx="3375729" cy="2571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85800" y="1957388"/>
            <a:ext cx="6892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DateOfBirth </a:t>
            </a:r>
            <a:endParaRPr lang="en-US" sz="837" dirty="0"/>
          </a:p>
        </p:txBody>
      </p:sp>
      <p:sp>
        <p:nvSpPr>
          <p:cNvPr id="15" name="Text 11"/>
          <p:cNvSpPr/>
          <p:nvPr/>
        </p:nvSpPr>
        <p:spPr>
          <a:xfrm>
            <a:off x="1432182" y="1984996"/>
            <a:ext cx="34785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chemeClr val="accent2">
                    <a:lumMod val="50000"/>
                  </a:scheme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732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4363" y="2207419"/>
            <a:ext cx="3375729" cy="2571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85800" y="2257425"/>
            <a:ext cx="8984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CheckInMethod 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1641360" y="2285033"/>
            <a:ext cx="445635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chemeClr val="accent2">
                    <a:lumMod val="50000"/>
                  </a:scheme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Mandatory</a:t>
            </a:r>
            <a:endParaRPr lang="en-US" sz="732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14363" y="2507456"/>
            <a:ext cx="3375729" cy="2571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85800" y="2557463"/>
            <a:ext cx="8086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DepartmentId </a:t>
            </a:r>
            <a:endParaRPr lang="en-US" sz="837" dirty="0"/>
          </a:p>
        </p:txBody>
      </p:sp>
      <p:sp>
        <p:nvSpPr>
          <p:cNvPr id="21" name="Text 17"/>
          <p:cNvSpPr/>
          <p:nvPr/>
        </p:nvSpPr>
        <p:spPr>
          <a:xfrm>
            <a:off x="1551645" y="2585071"/>
            <a:ext cx="34785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chemeClr val="accent2">
                    <a:lumMod val="50000"/>
                  </a:scheme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732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614363" y="2807494"/>
            <a:ext cx="3375729" cy="2571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685800" y="2857500"/>
            <a:ext cx="99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RFIDCardNumber </a:t>
            </a:r>
            <a:endParaRPr lang="en-US" sz="837" dirty="0"/>
          </a:p>
        </p:txBody>
      </p:sp>
      <p:sp>
        <p:nvSpPr>
          <p:cNvPr id="24" name="Text 20"/>
          <p:cNvSpPr/>
          <p:nvPr/>
        </p:nvSpPr>
        <p:spPr>
          <a:xfrm>
            <a:off x="1738750" y="2885108"/>
            <a:ext cx="34785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chemeClr val="accent2">
                    <a:lumMod val="50000"/>
                  </a:scheme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732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Shape 21"/>
          <p:cNvSpPr/>
          <p:nvPr/>
        </p:nvSpPr>
        <p:spPr>
          <a:xfrm>
            <a:off x="614363" y="3107531"/>
            <a:ext cx="3375729" cy="25717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685800" y="3157538"/>
            <a:ext cx="7721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QRCodeValue </a:t>
            </a:r>
            <a:endParaRPr lang="en-US" sz="837" dirty="0"/>
          </a:p>
        </p:txBody>
      </p:sp>
      <p:sp>
        <p:nvSpPr>
          <p:cNvPr id="27" name="Text 23"/>
          <p:cNvSpPr/>
          <p:nvPr/>
        </p:nvSpPr>
        <p:spPr>
          <a:xfrm>
            <a:off x="1515061" y="3185146"/>
            <a:ext cx="347852" cy="11266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chemeClr val="accent2">
                    <a:lumMod val="50000"/>
                  </a:scheme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Optional</a:t>
            </a:r>
            <a:endParaRPr lang="en-US" sz="732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8" name="Shape 24"/>
          <p:cNvSpPr/>
          <p:nvPr/>
        </p:nvSpPr>
        <p:spPr>
          <a:xfrm>
            <a:off x="500063" y="3550444"/>
            <a:ext cx="3604329" cy="1657350"/>
          </a:xfrm>
          <a:prstGeom prst="rect">
            <a:avLst/>
          </a:prstGeom>
          <a:solidFill>
            <a:srgbClr val="FFFFFF"/>
          </a:solidFill>
          <a:ln w="397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600075" y="3650456"/>
            <a:ext cx="340430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 Parameters</a:t>
            </a:r>
            <a:endParaRPr lang="en-US" sz="1046" dirty="0"/>
          </a:p>
        </p:txBody>
      </p:sp>
      <p:sp>
        <p:nvSpPr>
          <p:cNvPr id="30" name="Shape 26"/>
          <p:cNvSpPr/>
          <p:nvPr/>
        </p:nvSpPr>
        <p:spPr>
          <a:xfrm>
            <a:off x="600075" y="3921919"/>
            <a:ext cx="1680707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600075" y="3921919"/>
            <a:ext cx="1680707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(Boolean)</a:t>
            </a:r>
            <a:endParaRPr lang="en-US" sz="837" dirty="0"/>
          </a:p>
        </p:txBody>
      </p:sp>
      <p:sp>
        <p:nvSpPr>
          <p:cNvPr id="32" name="Shape 28"/>
          <p:cNvSpPr/>
          <p:nvPr/>
        </p:nvSpPr>
        <p:spPr>
          <a:xfrm>
            <a:off x="2323644" y="3921919"/>
            <a:ext cx="1680735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2323644" y="3921919"/>
            <a:ext cx="1680735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TicketNumber</a:t>
            </a:r>
            <a:endParaRPr lang="en-US" sz="837" dirty="0"/>
          </a:p>
        </p:txBody>
      </p:sp>
      <p:sp>
        <p:nvSpPr>
          <p:cNvPr id="34" name="Shape 30"/>
          <p:cNvSpPr/>
          <p:nvPr/>
        </p:nvSpPr>
        <p:spPr>
          <a:xfrm>
            <a:off x="600075" y="4221956"/>
            <a:ext cx="1680707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/>
          <p:nvPr/>
        </p:nvSpPr>
        <p:spPr>
          <a:xfrm>
            <a:off x="600075" y="4221956"/>
            <a:ext cx="1680707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PatientId</a:t>
            </a:r>
            <a:endParaRPr lang="en-US" sz="837" dirty="0"/>
          </a:p>
        </p:txBody>
      </p:sp>
      <p:sp>
        <p:nvSpPr>
          <p:cNvPr id="36" name="Shape 32"/>
          <p:cNvSpPr/>
          <p:nvPr/>
        </p:nvSpPr>
        <p:spPr>
          <a:xfrm>
            <a:off x="2323644" y="4221956"/>
            <a:ext cx="1680735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/>
          <p:nvPr/>
        </p:nvSpPr>
        <p:spPr>
          <a:xfrm>
            <a:off x="2323644" y="4221956"/>
            <a:ext cx="1680735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VisitId</a:t>
            </a:r>
            <a:endParaRPr lang="en-US" sz="837" dirty="0"/>
          </a:p>
        </p:txBody>
      </p:sp>
      <p:sp>
        <p:nvSpPr>
          <p:cNvPr id="38" name="Shape 34"/>
          <p:cNvSpPr/>
          <p:nvPr/>
        </p:nvSpPr>
        <p:spPr>
          <a:xfrm>
            <a:off x="600075" y="4521994"/>
            <a:ext cx="1680707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5"/>
          <p:cNvSpPr/>
          <p:nvPr/>
        </p:nvSpPr>
        <p:spPr>
          <a:xfrm>
            <a:off x="600075" y="4521994"/>
            <a:ext cx="1680707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QueueTicketId</a:t>
            </a:r>
            <a:endParaRPr lang="en-US" sz="837" dirty="0"/>
          </a:p>
        </p:txBody>
      </p:sp>
      <p:sp>
        <p:nvSpPr>
          <p:cNvPr id="40" name="Shape 36"/>
          <p:cNvSpPr/>
          <p:nvPr/>
        </p:nvSpPr>
        <p:spPr>
          <a:xfrm>
            <a:off x="2323644" y="4521994"/>
            <a:ext cx="1680735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7"/>
          <p:cNvSpPr/>
          <p:nvPr/>
        </p:nvSpPr>
        <p:spPr>
          <a:xfrm>
            <a:off x="2323644" y="4521994"/>
            <a:ext cx="1680735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EstimatedWaitTime</a:t>
            </a:r>
            <a:endParaRPr lang="en-US" sz="837" dirty="0"/>
          </a:p>
        </p:txBody>
      </p:sp>
      <p:sp>
        <p:nvSpPr>
          <p:cNvPr id="42" name="Shape 38"/>
          <p:cNvSpPr/>
          <p:nvPr/>
        </p:nvSpPr>
        <p:spPr>
          <a:xfrm>
            <a:off x="600075" y="4822031"/>
            <a:ext cx="1680707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9"/>
          <p:cNvSpPr/>
          <p:nvPr/>
        </p:nvSpPr>
        <p:spPr>
          <a:xfrm>
            <a:off x="600075" y="4822031"/>
            <a:ext cx="1680707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QueuePosition</a:t>
            </a:r>
            <a:endParaRPr lang="en-US" sz="837" dirty="0"/>
          </a:p>
        </p:txBody>
      </p:sp>
      <p:sp>
        <p:nvSpPr>
          <p:cNvPr id="44" name="Shape 40"/>
          <p:cNvSpPr/>
          <p:nvPr/>
        </p:nvSpPr>
        <p:spPr>
          <a:xfrm>
            <a:off x="2323644" y="4822031"/>
            <a:ext cx="1680735" cy="2571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/>
          <p:nvPr/>
        </p:nvSpPr>
        <p:spPr>
          <a:xfrm>
            <a:off x="2323644" y="4822031"/>
            <a:ext cx="1680735" cy="257175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ErrorMessage</a:t>
            </a:r>
            <a:endParaRPr lang="en-US" sz="837" dirty="0"/>
          </a:p>
        </p:txBody>
      </p:sp>
      <p:sp>
        <p:nvSpPr>
          <p:cNvPr id="46" name="Shape 42"/>
          <p:cNvSpPr/>
          <p:nvPr/>
        </p:nvSpPr>
        <p:spPr>
          <a:xfrm>
            <a:off x="4318704" y="871538"/>
            <a:ext cx="4325234" cy="328613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3"/>
          <p:cNvSpPr/>
          <p:nvPr/>
        </p:nvSpPr>
        <p:spPr>
          <a:xfrm>
            <a:off x="4433004" y="928688"/>
            <a:ext cx="409663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CheckInPatient Server Action Flow</a:t>
            </a:r>
            <a:endParaRPr lang="en-US" sz="1046" dirty="0"/>
          </a:p>
        </p:txBody>
      </p:sp>
      <p:sp>
        <p:nvSpPr>
          <p:cNvPr id="48" name="Shape 44"/>
          <p:cNvSpPr/>
          <p:nvPr/>
        </p:nvSpPr>
        <p:spPr>
          <a:xfrm>
            <a:off x="4318704" y="1271588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4318704" y="1271588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6"/>
          <p:cNvSpPr/>
          <p:nvPr/>
        </p:nvSpPr>
        <p:spPr>
          <a:xfrm>
            <a:off x="4390141" y="1343025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7"/>
          <p:cNvSpPr/>
          <p:nvPr/>
        </p:nvSpPr>
        <p:spPr>
          <a:xfrm>
            <a:off x="4390141" y="134302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732" dirty="0"/>
          </a:p>
        </p:txBody>
      </p:sp>
      <p:sp>
        <p:nvSpPr>
          <p:cNvPr id="52" name="Text 48"/>
          <p:cNvSpPr/>
          <p:nvPr/>
        </p:nvSpPr>
        <p:spPr>
          <a:xfrm>
            <a:off x="4675891" y="1343025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 input parameters</a:t>
            </a:r>
            <a:endParaRPr lang="en-US" sz="889" dirty="0"/>
          </a:p>
        </p:txBody>
      </p:sp>
      <p:sp>
        <p:nvSpPr>
          <p:cNvPr id="53" name="Shape 49"/>
          <p:cNvSpPr/>
          <p:nvPr/>
        </p:nvSpPr>
        <p:spPr>
          <a:xfrm>
            <a:off x="4318704" y="1678781"/>
            <a:ext cx="4325234" cy="47288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4318704" y="1678781"/>
            <a:ext cx="28575" cy="472883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1"/>
          <p:cNvSpPr/>
          <p:nvPr/>
        </p:nvSpPr>
        <p:spPr>
          <a:xfrm>
            <a:off x="4390141" y="1750219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4390141" y="175021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732" dirty="0"/>
          </a:p>
        </p:txBody>
      </p:sp>
      <p:sp>
        <p:nvSpPr>
          <p:cNvPr id="57" name="Text 53"/>
          <p:cNvSpPr/>
          <p:nvPr/>
        </p:nvSpPr>
        <p:spPr>
          <a:xfrm>
            <a:off x="4675891" y="1750219"/>
            <a:ext cx="3896609" cy="330008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 if patient exists by PhoneNumber. If NOT exists: Create new Patient record. If exists: Retrieve existing Patient</a:t>
            </a:r>
            <a:endParaRPr lang="en-US" sz="889" dirty="0"/>
          </a:p>
        </p:txBody>
      </p:sp>
      <p:sp>
        <p:nvSpPr>
          <p:cNvPr id="58" name="Shape 54"/>
          <p:cNvSpPr/>
          <p:nvPr/>
        </p:nvSpPr>
        <p:spPr>
          <a:xfrm>
            <a:off x="4318704" y="2201670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4318704" y="2201670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6"/>
          <p:cNvSpPr/>
          <p:nvPr/>
        </p:nvSpPr>
        <p:spPr>
          <a:xfrm>
            <a:off x="4390141" y="2273108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7"/>
          <p:cNvSpPr/>
          <p:nvPr/>
        </p:nvSpPr>
        <p:spPr>
          <a:xfrm>
            <a:off x="4390141" y="227310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732" dirty="0"/>
          </a:p>
        </p:txBody>
      </p:sp>
      <p:sp>
        <p:nvSpPr>
          <p:cNvPr id="62" name="Text 58"/>
          <p:cNvSpPr/>
          <p:nvPr/>
        </p:nvSpPr>
        <p:spPr>
          <a:xfrm>
            <a:off x="4675891" y="2273108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new Visit record</a:t>
            </a:r>
            <a:endParaRPr lang="en-US" sz="889" dirty="0"/>
          </a:p>
        </p:txBody>
      </p:sp>
      <p:sp>
        <p:nvSpPr>
          <p:cNvPr id="63" name="Shape 59"/>
          <p:cNvSpPr/>
          <p:nvPr/>
        </p:nvSpPr>
        <p:spPr>
          <a:xfrm>
            <a:off x="4318704" y="2608864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0"/>
          <p:cNvSpPr/>
          <p:nvPr/>
        </p:nvSpPr>
        <p:spPr>
          <a:xfrm>
            <a:off x="4318704" y="2608864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1"/>
          <p:cNvSpPr/>
          <p:nvPr/>
        </p:nvSpPr>
        <p:spPr>
          <a:xfrm>
            <a:off x="4390141" y="2680302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2"/>
          <p:cNvSpPr/>
          <p:nvPr/>
        </p:nvSpPr>
        <p:spPr>
          <a:xfrm>
            <a:off x="4390141" y="2680302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732" dirty="0"/>
          </a:p>
        </p:txBody>
      </p:sp>
      <p:sp>
        <p:nvSpPr>
          <p:cNvPr id="67" name="Text 63"/>
          <p:cNvSpPr/>
          <p:nvPr/>
        </p:nvSpPr>
        <p:spPr>
          <a:xfrm>
            <a:off x="4675891" y="2680302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Generate unique TicketNumber (format: "FD-XXX")</a:t>
            </a:r>
            <a:endParaRPr lang="en-US" sz="889" dirty="0"/>
          </a:p>
        </p:txBody>
      </p:sp>
      <p:sp>
        <p:nvSpPr>
          <p:cNvPr id="68" name="Shape 64"/>
          <p:cNvSpPr/>
          <p:nvPr/>
        </p:nvSpPr>
        <p:spPr>
          <a:xfrm>
            <a:off x="4318704" y="3016058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Shape 65"/>
          <p:cNvSpPr/>
          <p:nvPr/>
        </p:nvSpPr>
        <p:spPr>
          <a:xfrm>
            <a:off x="4318704" y="3016058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4390141" y="3087495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7"/>
          <p:cNvSpPr/>
          <p:nvPr/>
        </p:nvSpPr>
        <p:spPr>
          <a:xfrm>
            <a:off x="4390141" y="308749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732" dirty="0"/>
          </a:p>
        </p:txBody>
      </p:sp>
      <p:sp>
        <p:nvSpPr>
          <p:cNvPr id="72" name="Text 68"/>
          <p:cNvSpPr/>
          <p:nvPr/>
        </p:nvSpPr>
        <p:spPr>
          <a:xfrm>
            <a:off x="4675891" y="3087495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Calculate queue position</a:t>
            </a:r>
            <a:endParaRPr lang="en-US" sz="889" dirty="0"/>
          </a:p>
        </p:txBody>
      </p:sp>
      <p:sp>
        <p:nvSpPr>
          <p:cNvPr id="73" name="Shape 69"/>
          <p:cNvSpPr/>
          <p:nvPr/>
        </p:nvSpPr>
        <p:spPr>
          <a:xfrm>
            <a:off x="4318704" y="3423252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Shape 70"/>
          <p:cNvSpPr/>
          <p:nvPr/>
        </p:nvSpPr>
        <p:spPr>
          <a:xfrm>
            <a:off x="4318704" y="3423252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71"/>
          <p:cNvSpPr/>
          <p:nvPr/>
        </p:nvSpPr>
        <p:spPr>
          <a:xfrm>
            <a:off x="4390141" y="3494689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2"/>
          <p:cNvSpPr/>
          <p:nvPr/>
        </p:nvSpPr>
        <p:spPr>
          <a:xfrm>
            <a:off x="4390141" y="3494689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732" dirty="0"/>
          </a:p>
        </p:txBody>
      </p:sp>
      <p:sp>
        <p:nvSpPr>
          <p:cNvPr id="77" name="Text 73"/>
          <p:cNvSpPr/>
          <p:nvPr/>
        </p:nvSpPr>
        <p:spPr>
          <a:xfrm>
            <a:off x="4675891" y="3494689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Calculate estimated wait time</a:t>
            </a:r>
            <a:endParaRPr lang="en-US" sz="889" dirty="0"/>
          </a:p>
        </p:txBody>
      </p:sp>
      <p:sp>
        <p:nvSpPr>
          <p:cNvPr id="78" name="Shape 74"/>
          <p:cNvSpPr/>
          <p:nvPr/>
        </p:nvSpPr>
        <p:spPr>
          <a:xfrm>
            <a:off x="4318704" y="3830445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4318704" y="3830445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4390141" y="3901883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7"/>
          <p:cNvSpPr/>
          <p:nvPr/>
        </p:nvSpPr>
        <p:spPr>
          <a:xfrm>
            <a:off x="4390141" y="3901883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732" dirty="0"/>
          </a:p>
        </p:txBody>
      </p:sp>
      <p:sp>
        <p:nvSpPr>
          <p:cNvPr id="82" name="Text 78"/>
          <p:cNvSpPr/>
          <p:nvPr/>
        </p:nvSpPr>
        <p:spPr>
          <a:xfrm>
            <a:off x="4675891" y="3901883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QueueTicket record with status "WAITING"</a:t>
            </a:r>
            <a:endParaRPr lang="en-US" sz="889" dirty="0"/>
          </a:p>
        </p:txBody>
      </p:sp>
      <p:sp>
        <p:nvSpPr>
          <p:cNvPr id="83" name="Shape 79"/>
          <p:cNvSpPr/>
          <p:nvPr/>
        </p:nvSpPr>
        <p:spPr>
          <a:xfrm>
            <a:off x="4318704" y="4237639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Shape 80"/>
          <p:cNvSpPr/>
          <p:nvPr/>
        </p:nvSpPr>
        <p:spPr>
          <a:xfrm>
            <a:off x="4318704" y="4237639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Shape 81"/>
          <p:cNvSpPr/>
          <p:nvPr/>
        </p:nvSpPr>
        <p:spPr>
          <a:xfrm>
            <a:off x="4390141" y="4309077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2"/>
          <p:cNvSpPr/>
          <p:nvPr/>
        </p:nvSpPr>
        <p:spPr>
          <a:xfrm>
            <a:off x="4390141" y="4309077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</a:t>
            </a:r>
            <a:endParaRPr lang="en-US" sz="732" dirty="0"/>
          </a:p>
        </p:txBody>
      </p:sp>
      <p:sp>
        <p:nvSpPr>
          <p:cNvPr id="87" name="Text 83"/>
          <p:cNvSpPr/>
          <p:nvPr/>
        </p:nvSpPr>
        <p:spPr>
          <a:xfrm>
            <a:off x="4675891" y="4309077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 check-in in CheckInLog</a:t>
            </a:r>
            <a:endParaRPr lang="en-US" sz="889" dirty="0"/>
          </a:p>
        </p:txBody>
      </p:sp>
      <p:sp>
        <p:nvSpPr>
          <p:cNvPr id="88" name="Shape 84"/>
          <p:cNvSpPr/>
          <p:nvPr/>
        </p:nvSpPr>
        <p:spPr>
          <a:xfrm>
            <a:off x="4318704" y="4644833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85"/>
          <p:cNvSpPr/>
          <p:nvPr/>
        </p:nvSpPr>
        <p:spPr>
          <a:xfrm>
            <a:off x="4318704" y="4644833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6"/>
          <p:cNvSpPr/>
          <p:nvPr/>
        </p:nvSpPr>
        <p:spPr>
          <a:xfrm>
            <a:off x="4390141" y="4716270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7"/>
          <p:cNvSpPr/>
          <p:nvPr/>
        </p:nvSpPr>
        <p:spPr>
          <a:xfrm>
            <a:off x="4390141" y="471627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</a:t>
            </a:r>
            <a:endParaRPr lang="en-US" sz="732" dirty="0"/>
          </a:p>
        </p:txBody>
      </p:sp>
      <p:sp>
        <p:nvSpPr>
          <p:cNvPr id="92" name="Text 88"/>
          <p:cNvSpPr/>
          <p:nvPr/>
        </p:nvSpPr>
        <p:spPr>
          <a:xfrm>
            <a:off x="4675891" y="4716270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Trigger SMS notification (async)</a:t>
            </a:r>
            <a:endParaRPr lang="en-US" sz="889" dirty="0"/>
          </a:p>
        </p:txBody>
      </p:sp>
      <p:sp>
        <p:nvSpPr>
          <p:cNvPr id="93" name="Shape 89"/>
          <p:cNvSpPr/>
          <p:nvPr/>
        </p:nvSpPr>
        <p:spPr>
          <a:xfrm>
            <a:off x="4318704" y="5052027"/>
            <a:ext cx="4325234" cy="3571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0"/>
          <p:cNvSpPr/>
          <p:nvPr/>
        </p:nvSpPr>
        <p:spPr>
          <a:xfrm>
            <a:off x="4318704" y="5052027"/>
            <a:ext cx="28575" cy="35718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Shape 91"/>
          <p:cNvSpPr/>
          <p:nvPr/>
        </p:nvSpPr>
        <p:spPr>
          <a:xfrm>
            <a:off x="4390141" y="5123464"/>
            <a:ext cx="214313" cy="214313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92"/>
          <p:cNvSpPr/>
          <p:nvPr/>
        </p:nvSpPr>
        <p:spPr>
          <a:xfrm>
            <a:off x="4390141" y="512346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</a:t>
            </a:r>
            <a:endParaRPr lang="en-US" sz="732" dirty="0"/>
          </a:p>
        </p:txBody>
      </p:sp>
      <p:sp>
        <p:nvSpPr>
          <p:cNvPr id="97" name="Text 93"/>
          <p:cNvSpPr/>
          <p:nvPr/>
        </p:nvSpPr>
        <p:spPr>
          <a:xfrm>
            <a:off x="4675891" y="5123464"/>
            <a:ext cx="3896609" cy="172148"/>
          </a:xfrm>
          <a:prstGeom prst="rect">
            <a:avLst/>
          </a:prstGeom>
          <a:noFill/>
          <a:ln/>
        </p:spPr>
        <p:txBody>
          <a:bodyPr wrap="non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Return success with ticket details</a:t>
            </a:r>
            <a:endParaRPr lang="en-US" sz="88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686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285750"/>
            <a:ext cx="8143875" cy="471488"/>
          </a:xfrm>
          <a:prstGeom prst="rect">
            <a:avLst/>
          </a:prstGeom>
          <a:noFill/>
          <a:ln/>
        </p:spPr>
        <p:txBody>
          <a:bodyPr wrap="none" lIns="0" tIns="0" rIns="0" bIns="68072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Interface Modules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871538"/>
            <a:ext cx="3982641" cy="2696766"/>
          </a:xfrm>
          <a:prstGeom prst="rect">
            <a:avLst/>
          </a:prstGeom>
          <a:solidFill>
            <a:srgbClr val="FFFFFF"/>
          </a:solidFill>
          <a:ln w="496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00075" y="971550"/>
            <a:ext cx="257175" cy="2571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2" y="1035844"/>
            <a:ext cx="144661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982266"/>
            <a:ext cx="210991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1: Patient Check-In</a:t>
            </a:r>
            <a:endParaRPr lang="en-US" sz="1238" dirty="0"/>
          </a:p>
        </p:txBody>
      </p:sp>
      <p:sp>
        <p:nvSpPr>
          <p:cNvPr id="8" name="Shape 4"/>
          <p:cNvSpPr/>
          <p:nvPr/>
        </p:nvSpPr>
        <p:spPr>
          <a:xfrm>
            <a:off x="600075" y="1300163"/>
            <a:ext cx="3782616" cy="6000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657225" y="138588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1525" y="1357313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WebCheckIn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771525" y="1564481"/>
            <a:ext cx="35540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Public-facing web check-in form with patient details and department selection</a:t>
            </a:r>
            <a:endParaRPr lang="en-US" sz="785" dirty="0"/>
          </a:p>
        </p:txBody>
      </p:sp>
      <p:sp>
        <p:nvSpPr>
          <p:cNvPr id="12" name="Shape 8"/>
          <p:cNvSpPr/>
          <p:nvPr/>
        </p:nvSpPr>
        <p:spPr>
          <a:xfrm>
            <a:off x="600075" y="1950244"/>
            <a:ext cx="3782616" cy="4607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57225" y="2035969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71525" y="2007394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QRCheckIn</a:t>
            </a:r>
            <a:endParaRPr lang="en-US" sz="942" dirty="0"/>
          </a:p>
        </p:txBody>
      </p:sp>
      <p:sp>
        <p:nvSpPr>
          <p:cNvPr id="15" name="Text 11"/>
          <p:cNvSpPr/>
          <p:nvPr/>
        </p:nvSpPr>
        <p:spPr>
          <a:xfrm>
            <a:off x="771525" y="2214563"/>
            <a:ext cx="35540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 code landing page for quick check-in via mobile scan</a:t>
            </a:r>
            <a:endParaRPr lang="en-US" sz="785" dirty="0"/>
          </a:p>
        </p:txBody>
      </p:sp>
      <p:sp>
        <p:nvSpPr>
          <p:cNvPr id="16" name="Shape 12"/>
          <p:cNvSpPr/>
          <p:nvPr/>
        </p:nvSpPr>
        <p:spPr>
          <a:xfrm>
            <a:off x="600075" y="2461022"/>
            <a:ext cx="3782616" cy="4607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57225" y="2546747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771525" y="2518172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SMSInstructions</a:t>
            </a:r>
            <a:endParaRPr lang="en-US" sz="942" dirty="0"/>
          </a:p>
        </p:txBody>
      </p:sp>
      <p:sp>
        <p:nvSpPr>
          <p:cNvPr id="19" name="Text 15"/>
          <p:cNvSpPr/>
          <p:nvPr/>
        </p:nvSpPr>
        <p:spPr>
          <a:xfrm>
            <a:off x="771525" y="2725341"/>
            <a:ext cx="35540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Information page with SMS check-in instructions and examples</a:t>
            </a:r>
            <a:endParaRPr lang="en-US" sz="785" dirty="0"/>
          </a:p>
        </p:txBody>
      </p:sp>
      <p:sp>
        <p:nvSpPr>
          <p:cNvPr id="20" name="Shape 16"/>
          <p:cNvSpPr/>
          <p:nvPr/>
        </p:nvSpPr>
        <p:spPr>
          <a:xfrm>
            <a:off x="600075" y="2971800"/>
            <a:ext cx="3782616" cy="4607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57225" y="3057525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71525" y="3028950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RFIDAdmin</a:t>
            </a:r>
            <a:endParaRPr lang="en-US" sz="942" dirty="0"/>
          </a:p>
        </p:txBody>
      </p:sp>
      <p:sp>
        <p:nvSpPr>
          <p:cNvPr id="23" name="Text 19"/>
          <p:cNvSpPr/>
          <p:nvPr/>
        </p:nvSpPr>
        <p:spPr>
          <a:xfrm>
            <a:off x="771525" y="3236119"/>
            <a:ext cx="35540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Admin interface to manage RFID cards and patient linkage</a:t>
            </a:r>
            <a:endParaRPr lang="en-US" sz="785" dirty="0"/>
          </a:p>
        </p:txBody>
      </p:sp>
      <p:sp>
        <p:nvSpPr>
          <p:cNvPr id="24" name="Shape 20"/>
          <p:cNvSpPr/>
          <p:nvPr/>
        </p:nvSpPr>
        <p:spPr>
          <a:xfrm>
            <a:off x="500063" y="3632597"/>
            <a:ext cx="3982641" cy="2185988"/>
          </a:xfrm>
          <a:prstGeom prst="rect">
            <a:avLst/>
          </a:prstGeom>
          <a:solidFill>
            <a:srgbClr val="FFFFFF"/>
          </a:solidFill>
          <a:ln w="496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00075" y="3732609"/>
            <a:ext cx="257175" cy="2571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9" y="3796903"/>
            <a:ext cx="128588" cy="1285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4400" y="3743325"/>
            <a:ext cx="16574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2: Dashboard</a:t>
            </a:r>
            <a:endParaRPr lang="en-US" sz="1238" dirty="0"/>
          </a:p>
        </p:txBody>
      </p:sp>
      <p:sp>
        <p:nvSpPr>
          <p:cNvPr id="28" name="Shape 23"/>
          <p:cNvSpPr/>
          <p:nvPr/>
        </p:nvSpPr>
        <p:spPr>
          <a:xfrm>
            <a:off x="600075" y="4061222"/>
            <a:ext cx="3782616" cy="6000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57225" y="4146947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771525" y="4118372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FrontDeskDashboard</a:t>
            </a:r>
            <a:endParaRPr lang="en-US" sz="942" dirty="0"/>
          </a:p>
        </p:txBody>
      </p:sp>
      <p:sp>
        <p:nvSpPr>
          <p:cNvPr id="31" name="Text 26"/>
          <p:cNvSpPr/>
          <p:nvPr/>
        </p:nvSpPr>
        <p:spPr>
          <a:xfrm>
            <a:off x="771525" y="4325541"/>
            <a:ext cx="35540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 management for front desk staff with real-time updates and action buttons</a:t>
            </a:r>
            <a:endParaRPr lang="en-US" sz="785" dirty="0"/>
          </a:p>
        </p:txBody>
      </p:sp>
      <p:sp>
        <p:nvSpPr>
          <p:cNvPr id="32" name="Shape 27"/>
          <p:cNvSpPr/>
          <p:nvPr/>
        </p:nvSpPr>
        <p:spPr>
          <a:xfrm>
            <a:off x="600075" y="4711303"/>
            <a:ext cx="3782616" cy="4607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57225" y="479702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771525" y="4768453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DoctorDashboard</a:t>
            </a:r>
            <a:endParaRPr lang="en-US" sz="942" dirty="0"/>
          </a:p>
        </p:txBody>
      </p:sp>
      <p:sp>
        <p:nvSpPr>
          <p:cNvPr id="35" name="Text 30"/>
          <p:cNvSpPr/>
          <p:nvPr/>
        </p:nvSpPr>
        <p:spPr>
          <a:xfrm>
            <a:off x="771525" y="4975622"/>
            <a:ext cx="35540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Doctor's patient queue view with consultation status management</a:t>
            </a:r>
            <a:endParaRPr lang="en-US" sz="785" dirty="0"/>
          </a:p>
        </p:txBody>
      </p:sp>
      <p:sp>
        <p:nvSpPr>
          <p:cNvPr id="36" name="Shape 31"/>
          <p:cNvSpPr/>
          <p:nvPr/>
        </p:nvSpPr>
        <p:spPr>
          <a:xfrm>
            <a:off x="600075" y="5222081"/>
            <a:ext cx="3782616" cy="46077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57225" y="5307806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771525" y="5279231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TVMonitorDisplay</a:t>
            </a:r>
            <a:endParaRPr lang="en-US" sz="942" dirty="0"/>
          </a:p>
        </p:txBody>
      </p:sp>
      <p:sp>
        <p:nvSpPr>
          <p:cNvPr id="39" name="Text 34"/>
          <p:cNvSpPr/>
          <p:nvPr/>
        </p:nvSpPr>
        <p:spPr>
          <a:xfrm>
            <a:off x="771525" y="5486400"/>
            <a:ext cx="35540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 waiting room display showing current and waiting tickets</a:t>
            </a:r>
            <a:endParaRPr lang="en-US" sz="785" dirty="0"/>
          </a:p>
        </p:txBody>
      </p:sp>
      <p:sp>
        <p:nvSpPr>
          <p:cNvPr id="40" name="Shape 35"/>
          <p:cNvSpPr/>
          <p:nvPr/>
        </p:nvSpPr>
        <p:spPr>
          <a:xfrm>
            <a:off x="4661297" y="871538"/>
            <a:ext cx="3982641" cy="2464594"/>
          </a:xfrm>
          <a:prstGeom prst="rect">
            <a:avLst/>
          </a:prstGeom>
          <a:solidFill>
            <a:srgbClr val="FFFFFF"/>
          </a:solidFill>
          <a:ln w="496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4761309" y="971550"/>
            <a:ext cx="257175" cy="25717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530" y="1035844"/>
            <a:ext cx="160734" cy="12858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075634" y="982266"/>
            <a:ext cx="1992995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Module 3: Administration</a:t>
            </a:r>
            <a:endParaRPr lang="en-US" sz="1238" dirty="0"/>
          </a:p>
        </p:txBody>
      </p:sp>
      <p:sp>
        <p:nvSpPr>
          <p:cNvPr id="44" name="Shape 38"/>
          <p:cNvSpPr/>
          <p:nvPr/>
        </p:nvSpPr>
        <p:spPr>
          <a:xfrm>
            <a:off x="4761309" y="1300163"/>
            <a:ext cx="3782616" cy="6000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9"/>
          <p:cNvSpPr/>
          <p:nvPr/>
        </p:nvSpPr>
        <p:spPr>
          <a:xfrm>
            <a:off x="4818459" y="1385888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/>
          <p:nvPr/>
        </p:nvSpPr>
        <p:spPr>
          <a:xfrm>
            <a:off x="4932759" y="1357313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PatientManagement</a:t>
            </a:r>
            <a:endParaRPr lang="en-US" sz="942" dirty="0"/>
          </a:p>
        </p:txBody>
      </p:sp>
      <p:sp>
        <p:nvSpPr>
          <p:cNvPr id="47" name="Text 41"/>
          <p:cNvSpPr/>
          <p:nvPr/>
        </p:nvSpPr>
        <p:spPr>
          <a:xfrm>
            <a:off x="4932759" y="1564481"/>
            <a:ext cx="35540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Admin patient records management with search, filters, and CRUD operations</a:t>
            </a:r>
            <a:endParaRPr lang="en-US" sz="785" dirty="0"/>
          </a:p>
        </p:txBody>
      </p:sp>
      <p:sp>
        <p:nvSpPr>
          <p:cNvPr id="48" name="Shape 42"/>
          <p:cNvSpPr/>
          <p:nvPr/>
        </p:nvSpPr>
        <p:spPr>
          <a:xfrm>
            <a:off x="4761309" y="1950244"/>
            <a:ext cx="3782616" cy="6000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4818459" y="2035969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4"/>
          <p:cNvSpPr/>
          <p:nvPr/>
        </p:nvSpPr>
        <p:spPr>
          <a:xfrm>
            <a:off x="4932759" y="2007394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QueueManagement</a:t>
            </a:r>
            <a:endParaRPr lang="en-US" sz="942" dirty="0"/>
          </a:p>
        </p:txBody>
      </p:sp>
      <p:sp>
        <p:nvSpPr>
          <p:cNvPr id="51" name="Text 45"/>
          <p:cNvSpPr/>
          <p:nvPr/>
        </p:nvSpPr>
        <p:spPr>
          <a:xfrm>
            <a:off x="4932759" y="2214563"/>
            <a:ext cx="35540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Admin queue oversight with manual management, status changes, and export capabilities</a:t>
            </a:r>
            <a:endParaRPr lang="en-US" sz="785" dirty="0"/>
          </a:p>
        </p:txBody>
      </p:sp>
      <p:sp>
        <p:nvSpPr>
          <p:cNvPr id="52" name="Shape 46"/>
          <p:cNvSpPr/>
          <p:nvPr/>
        </p:nvSpPr>
        <p:spPr>
          <a:xfrm>
            <a:off x="4761309" y="2600325"/>
            <a:ext cx="3782616" cy="600075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7"/>
          <p:cNvSpPr/>
          <p:nvPr/>
        </p:nvSpPr>
        <p:spPr>
          <a:xfrm>
            <a:off x="4818459" y="268605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48"/>
          <p:cNvSpPr/>
          <p:nvPr/>
        </p:nvSpPr>
        <p:spPr>
          <a:xfrm>
            <a:off x="4932759" y="2657475"/>
            <a:ext cx="35540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Reports</a:t>
            </a:r>
            <a:endParaRPr lang="en-US" sz="942" dirty="0"/>
          </a:p>
        </p:txBody>
      </p:sp>
      <p:sp>
        <p:nvSpPr>
          <p:cNvPr id="55" name="Text 49"/>
          <p:cNvSpPr/>
          <p:nvPr/>
        </p:nvSpPr>
        <p:spPr>
          <a:xfrm>
            <a:off x="4932759" y="2864644"/>
            <a:ext cx="3554016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Analytics and reports with charts for check-ins, wait times, peak hours, and department utilization</a:t>
            </a:r>
            <a:endParaRPr lang="en-US" sz="785" dirty="0"/>
          </a:p>
        </p:txBody>
      </p:sp>
      <p:sp>
        <p:nvSpPr>
          <p:cNvPr id="56" name="Shape 50"/>
          <p:cNvSpPr/>
          <p:nvPr/>
        </p:nvSpPr>
        <p:spPr>
          <a:xfrm>
            <a:off x="4661297" y="3386138"/>
            <a:ext cx="3982641" cy="1285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1297" y="3386138"/>
            <a:ext cx="3982641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2487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285750"/>
            <a:ext cx="8143875" cy="471488"/>
          </a:xfrm>
          <a:prstGeom prst="rect">
            <a:avLst/>
          </a:prstGeom>
          <a:noFill/>
          <a:ln/>
        </p:spPr>
        <p:txBody>
          <a:bodyPr wrap="none" lIns="0" tIns="0" rIns="0" bIns="68072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 Screens &amp; Real-Time Management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885825"/>
            <a:ext cx="3964781" cy="40719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003697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92969" y="971550"/>
            <a:ext cx="174168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 Desk Dashboard</a:t>
            </a:r>
            <a:endParaRPr lang="en-US" sz="1238" dirty="0"/>
          </a:p>
        </p:txBody>
      </p:sp>
      <p:sp>
        <p:nvSpPr>
          <p:cNvPr id="7" name="Shape 3"/>
          <p:cNvSpPr/>
          <p:nvPr/>
        </p:nvSpPr>
        <p:spPr>
          <a:xfrm>
            <a:off x="500063" y="1393031"/>
            <a:ext cx="3964781" cy="38674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14363" y="1507331"/>
            <a:ext cx="3736181" cy="271463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1046" dirty="0"/>
          </a:p>
        </p:txBody>
      </p:sp>
      <p:sp>
        <p:nvSpPr>
          <p:cNvPr id="9" name="Shape 5"/>
          <p:cNvSpPr/>
          <p:nvPr/>
        </p:nvSpPr>
        <p:spPr>
          <a:xfrm>
            <a:off x="614363" y="1864519"/>
            <a:ext cx="3736181" cy="454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71513" y="1928813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1971675"/>
            <a:ext cx="85725" cy="857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1921669"/>
            <a:ext cx="33789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queue list with patient details, ticket numbers, and wait times</a:t>
            </a:r>
            <a:endParaRPr lang="en-US" sz="889" dirty="0"/>
          </a:p>
        </p:txBody>
      </p:sp>
      <p:sp>
        <p:nvSpPr>
          <p:cNvPr id="13" name="Shape 8"/>
          <p:cNvSpPr/>
          <p:nvPr/>
        </p:nvSpPr>
        <p:spPr>
          <a:xfrm>
            <a:off x="614363" y="2375967"/>
            <a:ext cx="3736181" cy="454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71513" y="244026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483123"/>
            <a:ext cx="85725" cy="857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2433117"/>
            <a:ext cx="33789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Statistics cards showing total waiting, called, completed, and average wait time</a:t>
            </a:r>
            <a:endParaRPr lang="en-US" sz="889" dirty="0"/>
          </a:p>
        </p:txBody>
      </p:sp>
      <p:sp>
        <p:nvSpPr>
          <p:cNvPr id="17" name="Shape 11"/>
          <p:cNvSpPr/>
          <p:nvPr/>
        </p:nvSpPr>
        <p:spPr>
          <a:xfrm>
            <a:off x="614363" y="2887414"/>
            <a:ext cx="3736181" cy="454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2"/>
          <p:cNvSpPr/>
          <p:nvPr/>
        </p:nvSpPr>
        <p:spPr>
          <a:xfrm>
            <a:off x="671513" y="2951708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994571"/>
            <a:ext cx="85725" cy="857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14400" y="2944564"/>
            <a:ext cx="33789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 filter and refresh button for queue management</a:t>
            </a:r>
            <a:endParaRPr lang="en-US" sz="889" dirty="0"/>
          </a:p>
        </p:txBody>
      </p:sp>
      <p:sp>
        <p:nvSpPr>
          <p:cNvPr id="21" name="Shape 14"/>
          <p:cNvSpPr/>
          <p:nvPr/>
        </p:nvSpPr>
        <p:spPr>
          <a:xfrm>
            <a:off x="614363" y="3398862"/>
            <a:ext cx="3736181" cy="2928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5"/>
          <p:cNvSpPr/>
          <p:nvPr/>
        </p:nvSpPr>
        <p:spPr>
          <a:xfrm>
            <a:off x="671513" y="3463156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506019"/>
            <a:ext cx="85725" cy="857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14400" y="3456012"/>
            <a:ext cx="33789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 buttons: Call Patient, Mark In Progress, Complete</a:t>
            </a:r>
            <a:endParaRPr lang="en-US" sz="889" dirty="0"/>
          </a:p>
        </p:txBody>
      </p:sp>
      <p:sp>
        <p:nvSpPr>
          <p:cNvPr id="25" name="Shape 17"/>
          <p:cNvSpPr/>
          <p:nvPr/>
        </p:nvSpPr>
        <p:spPr>
          <a:xfrm>
            <a:off x="614363" y="3748906"/>
            <a:ext cx="3736181" cy="2928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671513" y="381320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856062"/>
            <a:ext cx="85725" cy="857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14400" y="3806056"/>
            <a:ext cx="33789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Auto-refresh timer (10 seconds) for live updates</a:t>
            </a:r>
            <a:endParaRPr lang="en-US" sz="889" dirty="0"/>
          </a:p>
        </p:txBody>
      </p:sp>
      <p:sp>
        <p:nvSpPr>
          <p:cNvPr id="29" name="Shape 20"/>
          <p:cNvSpPr/>
          <p:nvPr/>
        </p:nvSpPr>
        <p:spPr>
          <a:xfrm>
            <a:off x="614363" y="4098950"/>
            <a:ext cx="3736181" cy="2928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1"/>
          <p:cNvSpPr/>
          <p:nvPr/>
        </p:nvSpPr>
        <p:spPr>
          <a:xfrm>
            <a:off x="671513" y="4163244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4206106"/>
            <a:ext cx="85725" cy="85725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14400" y="4156100"/>
            <a:ext cx="33789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table with sortable columns and pagination</a:t>
            </a:r>
            <a:endParaRPr lang="en-US" sz="889" dirty="0"/>
          </a:p>
        </p:txBody>
      </p:sp>
      <p:sp>
        <p:nvSpPr>
          <p:cNvPr id="33" name="Shape 23"/>
          <p:cNvSpPr/>
          <p:nvPr/>
        </p:nvSpPr>
        <p:spPr>
          <a:xfrm>
            <a:off x="614363" y="4477569"/>
            <a:ext cx="1839516" cy="50720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4"/>
          <p:cNvSpPr/>
          <p:nvPr/>
        </p:nvSpPr>
        <p:spPr>
          <a:xfrm>
            <a:off x="685800" y="4549006"/>
            <a:ext cx="1696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Role</a:t>
            </a:r>
            <a:endParaRPr lang="en-US" sz="732" dirty="0"/>
          </a:p>
        </p:txBody>
      </p:sp>
      <p:sp>
        <p:nvSpPr>
          <p:cNvPr id="35" name="Text 25"/>
          <p:cNvSpPr/>
          <p:nvPr/>
        </p:nvSpPr>
        <p:spPr>
          <a:xfrm>
            <a:off x="685800" y="4720456"/>
            <a:ext cx="1696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FrontDesk</a:t>
            </a:r>
            <a:endParaRPr lang="en-US" sz="942" dirty="0"/>
          </a:p>
        </p:txBody>
      </p:sp>
      <p:sp>
        <p:nvSpPr>
          <p:cNvPr id="36" name="Shape 26"/>
          <p:cNvSpPr/>
          <p:nvPr/>
        </p:nvSpPr>
        <p:spPr>
          <a:xfrm>
            <a:off x="2511028" y="4477569"/>
            <a:ext cx="1839516" cy="50720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27"/>
          <p:cNvSpPr/>
          <p:nvPr/>
        </p:nvSpPr>
        <p:spPr>
          <a:xfrm>
            <a:off x="2582466" y="4549006"/>
            <a:ext cx="1696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 Type</a:t>
            </a:r>
            <a:endParaRPr lang="en-US" sz="732" dirty="0"/>
          </a:p>
        </p:txBody>
      </p:sp>
      <p:sp>
        <p:nvSpPr>
          <p:cNvPr id="38" name="Text 28"/>
          <p:cNvSpPr/>
          <p:nvPr/>
        </p:nvSpPr>
        <p:spPr>
          <a:xfrm>
            <a:off x="2582466" y="4720456"/>
            <a:ext cx="1696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Web</a:t>
            </a:r>
            <a:endParaRPr lang="en-US" sz="942" dirty="0"/>
          </a:p>
        </p:txBody>
      </p:sp>
      <p:sp>
        <p:nvSpPr>
          <p:cNvPr id="39" name="Shape 29"/>
          <p:cNvSpPr/>
          <p:nvPr/>
        </p:nvSpPr>
        <p:spPr>
          <a:xfrm>
            <a:off x="4679156" y="885825"/>
            <a:ext cx="3964781" cy="40719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7744" y="1003697"/>
            <a:ext cx="192881" cy="17145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5072063" y="971550"/>
            <a:ext cx="14240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 Dashboard</a:t>
            </a:r>
            <a:endParaRPr lang="en-US" sz="1238" dirty="0"/>
          </a:p>
        </p:txBody>
      </p:sp>
      <p:sp>
        <p:nvSpPr>
          <p:cNvPr id="42" name="Shape 31"/>
          <p:cNvSpPr/>
          <p:nvPr/>
        </p:nvSpPr>
        <p:spPr>
          <a:xfrm>
            <a:off x="4679156" y="1393031"/>
            <a:ext cx="3964781" cy="38674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2"/>
          <p:cNvSpPr/>
          <p:nvPr/>
        </p:nvSpPr>
        <p:spPr>
          <a:xfrm>
            <a:off x="4793456" y="1507331"/>
            <a:ext cx="3736181" cy="271463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Features</a:t>
            </a:r>
            <a:endParaRPr lang="en-US" sz="1046" dirty="0"/>
          </a:p>
        </p:txBody>
      </p:sp>
      <p:sp>
        <p:nvSpPr>
          <p:cNvPr id="44" name="Shape 33"/>
          <p:cNvSpPr/>
          <p:nvPr/>
        </p:nvSpPr>
        <p:spPr>
          <a:xfrm>
            <a:off x="4793456" y="1864519"/>
            <a:ext cx="3736181" cy="454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34"/>
          <p:cNvSpPr/>
          <p:nvPr/>
        </p:nvSpPr>
        <p:spPr>
          <a:xfrm>
            <a:off x="4850606" y="1928813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971675"/>
            <a:ext cx="85725" cy="85725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5093494" y="1921669"/>
            <a:ext cx="33789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Personalized queue filtered by logged-in doctor's assigned patients</a:t>
            </a:r>
            <a:endParaRPr lang="en-US" sz="889" dirty="0"/>
          </a:p>
        </p:txBody>
      </p:sp>
      <p:sp>
        <p:nvSpPr>
          <p:cNvPr id="48" name="Shape 36"/>
          <p:cNvSpPr/>
          <p:nvPr/>
        </p:nvSpPr>
        <p:spPr>
          <a:xfrm>
            <a:off x="4793456" y="2375967"/>
            <a:ext cx="3736181" cy="454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37"/>
          <p:cNvSpPr/>
          <p:nvPr/>
        </p:nvSpPr>
        <p:spPr>
          <a:xfrm>
            <a:off x="4850606" y="244026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2483123"/>
            <a:ext cx="85725" cy="85725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093494" y="2433117"/>
            <a:ext cx="33789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Statistics cards: My Waiting count and Next Patient highlighted</a:t>
            </a:r>
            <a:endParaRPr lang="en-US" sz="889" dirty="0"/>
          </a:p>
        </p:txBody>
      </p:sp>
      <p:sp>
        <p:nvSpPr>
          <p:cNvPr id="52" name="Shape 39"/>
          <p:cNvSpPr/>
          <p:nvPr/>
        </p:nvSpPr>
        <p:spPr>
          <a:xfrm>
            <a:off x="4793456" y="2887414"/>
            <a:ext cx="3736181" cy="454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40"/>
          <p:cNvSpPr/>
          <p:nvPr/>
        </p:nvSpPr>
        <p:spPr>
          <a:xfrm>
            <a:off x="4850606" y="2951708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2994571"/>
            <a:ext cx="85725" cy="85725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5093494" y="2944564"/>
            <a:ext cx="33789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Vertical card layout displaying ticket number, patient name, wait time, and check-in method</a:t>
            </a:r>
            <a:endParaRPr lang="en-US" sz="889" dirty="0"/>
          </a:p>
        </p:txBody>
      </p:sp>
      <p:sp>
        <p:nvSpPr>
          <p:cNvPr id="56" name="Shape 42"/>
          <p:cNvSpPr/>
          <p:nvPr/>
        </p:nvSpPr>
        <p:spPr>
          <a:xfrm>
            <a:off x="4793456" y="3398862"/>
            <a:ext cx="3736181" cy="2928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3"/>
          <p:cNvSpPr/>
          <p:nvPr/>
        </p:nvSpPr>
        <p:spPr>
          <a:xfrm>
            <a:off x="4850606" y="3463156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3506019"/>
            <a:ext cx="85725" cy="85725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5093494" y="3456012"/>
            <a:ext cx="33789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 Next Patient button to notify and update queue status</a:t>
            </a:r>
            <a:endParaRPr lang="en-US" sz="889" dirty="0"/>
          </a:p>
        </p:txBody>
      </p:sp>
      <p:sp>
        <p:nvSpPr>
          <p:cNvPr id="60" name="Shape 45"/>
          <p:cNvSpPr/>
          <p:nvPr/>
        </p:nvSpPr>
        <p:spPr>
          <a:xfrm>
            <a:off x="4793456" y="3748906"/>
            <a:ext cx="3736181" cy="4542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46"/>
          <p:cNvSpPr/>
          <p:nvPr/>
        </p:nvSpPr>
        <p:spPr>
          <a:xfrm>
            <a:off x="4850606" y="3813200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469" y="3856062"/>
            <a:ext cx="85725" cy="85725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5093494" y="3806056"/>
            <a:ext cx="3378994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 Consultation and Complete buttons for workflow management</a:t>
            </a:r>
            <a:endParaRPr lang="en-US" sz="889" dirty="0"/>
          </a:p>
        </p:txBody>
      </p:sp>
      <p:sp>
        <p:nvSpPr>
          <p:cNvPr id="64" name="Shape 48"/>
          <p:cNvSpPr/>
          <p:nvPr/>
        </p:nvSpPr>
        <p:spPr>
          <a:xfrm>
            <a:off x="4793456" y="4260354"/>
            <a:ext cx="3736181" cy="2928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49"/>
          <p:cNvSpPr/>
          <p:nvPr/>
        </p:nvSpPr>
        <p:spPr>
          <a:xfrm>
            <a:off x="4850606" y="4324648"/>
            <a:ext cx="171450" cy="17145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469" y="4367510"/>
            <a:ext cx="85725" cy="85725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5093494" y="4317504"/>
            <a:ext cx="337899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View History link for patient visit records</a:t>
            </a:r>
            <a:endParaRPr lang="en-US" sz="889" dirty="0"/>
          </a:p>
        </p:txBody>
      </p:sp>
      <p:sp>
        <p:nvSpPr>
          <p:cNvPr id="68" name="Shape 51"/>
          <p:cNvSpPr/>
          <p:nvPr/>
        </p:nvSpPr>
        <p:spPr>
          <a:xfrm>
            <a:off x="4793456" y="4638973"/>
            <a:ext cx="1839516" cy="50720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52"/>
          <p:cNvSpPr/>
          <p:nvPr/>
        </p:nvSpPr>
        <p:spPr>
          <a:xfrm>
            <a:off x="4864894" y="4710410"/>
            <a:ext cx="1696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Role</a:t>
            </a:r>
            <a:endParaRPr lang="en-US" sz="732" dirty="0"/>
          </a:p>
        </p:txBody>
      </p:sp>
      <p:sp>
        <p:nvSpPr>
          <p:cNvPr id="70" name="Text 53"/>
          <p:cNvSpPr/>
          <p:nvPr/>
        </p:nvSpPr>
        <p:spPr>
          <a:xfrm>
            <a:off x="4864894" y="4881860"/>
            <a:ext cx="1696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Doctor</a:t>
            </a:r>
            <a:endParaRPr lang="en-US" sz="942" dirty="0"/>
          </a:p>
        </p:txBody>
      </p:sp>
      <p:sp>
        <p:nvSpPr>
          <p:cNvPr id="71" name="Shape 54"/>
          <p:cNvSpPr/>
          <p:nvPr/>
        </p:nvSpPr>
        <p:spPr>
          <a:xfrm>
            <a:off x="6690122" y="4638973"/>
            <a:ext cx="1839516" cy="50720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55"/>
          <p:cNvSpPr/>
          <p:nvPr/>
        </p:nvSpPr>
        <p:spPr>
          <a:xfrm>
            <a:off x="6761559" y="4710410"/>
            <a:ext cx="169664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32" dirty="0">
                <a:solidFill>
                  <a:srgbClr val="FFFFFF">
                    <a:alpha val="90000"/>
                  </a:srgbClr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 Type</a:t>
            </a:r>
            <a:endParaRPr lang="en-US" sz="732" dirty="0"/>
          </a:p>
        </p:txBody>
      </p:sp>
      <p:sp>
        <p:nvSpPr>
          <p:cNvPr id="73" name="Text 56"/>
          <p:cNvSpPr/>
          <p:nvPr/>
        </p:nvSpPr>
        <p:spPr>
          <a:xfrm>
            <a:off x="6761559" y="4881860"/>
            <a:ext cx="16966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Responsive Web</a:t>
            </a:r>
            <a:endParaRPr lang="en-US" sz="942" dirty="0"/>
          </a:p>
        </p:txBody>
      </p:sp>
      <p:sp>
        <p:nvSpPr>
          <p:cNvPr id="74" name="Shape 57"/>
          <p:cNvSpPr/>
          <p:nvPr/>
        </p:nvSpPr>
        <p:spPr>
          <a:xfrm>
            <a:off x="500063" y="5389066"/>
            <a:ext cx="8143875" cy="45720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Shape 58"/>
          <p:cNvSpPr/>
          <p:nvPr/>
        </p:nvSpPr>
        <p:spPr>
          <a:xfrm>
            <a:off x="1168115" y="5474791"/>
            <a:ext cx="733016" cy="2857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59"/>
          <p:cNvSpPr/>
          <p:nvPr/>
        </p:nvSpPr>
        <p:spPr>
          <a:xfrm>
            <a:off x="1168115" y="5474791"/>
            <a:ext cx="733016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WAITING</a:t>
            </a:r>
            <a:endParaRPr lang="en-US" sz="837" dirty="0"/>
          </a:p>
        </p:txBody>
      </p:sp>
      <p:pic>
        <p:nvPicPr>
          <p:cNvPr id="7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6308" y="5546229"/>
            <a:ext cx="125016" cy="142875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3076501" y="5474791"/>
            <a:ext cx="651532" cy="2857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61"/>
          <p:cNvSpPr/>
          <p:nvPr/>
        </p:nvSpPr>
        <p:spPr>
          <a:xfrm>
            <a:off x="3076501" y="5474791"/>
            <a:ext cx="651532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CALLED</a:t>
            </a:r>
            <a:endParaRPr lang="en-US" sz="837" dirty="0"/>
          </a:p>
        </p:txBody>
      </p:sp>
      <p:pic>
        <p:nvPicPr>
          <p:cNvPr id="80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53210" y="5546229"/>
            <a:ext cx="125016" cy="142875"/>
          </a:xfrm>
          <a:prstGeom prst="rect">
            <a:avLst/>
          </a:prstGeom>
        </p:spPr>
      </p:pic>
      <p:sp>
        <p:nvSpPr>
          <p:cNvPr id="81" name="Shape 62"/>
          <p:cNvSpPr/>
          <p:nvPr/>
        </p:nvSpPr>
        <p:spPr>
          <a:xfrm>
            <a:off x="4903403" y="5474791"/>
            <a:ext cx="991112" cy="28575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3"/>
          <p:cNvSpPr/>
          <p:nvPr/>
        </p:nvSpPr>
        <p:spPr>
          <a:xfrm>
            <a:off x="4903403" y="5474791"/>
            <a:ext cx="991112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IN_PROGRESS</a:t>
            </a:r>
            <a:endParaRPr lang="en-US" sz="837" dirty="0"/>
          </a:p>
        </p:txBody>
      </p:sp>
      <p:pic>
        <p:nvPicPr>
          <p:cNvPr id="83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692" y="5546229"/>
            <a:ext cx="125016" cy="142875"/>
          </a:xfrm>
          <a:prstGeom prst="rect">
            <a:avLst/>
          </a:prstGeom>
        </p:spPr>
      </p:pic>
      <p:sp>
        <p:nvSpPr>
          <p:cNvPr id="84" name="Shape 64"/>
          <p:cNvSpPr/>
          <p:nvPr/>
        </p:nvSpPr>
        <p:spPr>
          <a:xfrm>
            <a:off x="7069885" y="5474791"/>
            <a:ext cx="905833" cy="28575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65"/>
          <p:cNvSpPr/>
          <p:nvPr/>
        </p:nvSpPr>
        <p:spPr>
          <a:xfrm>
            <a:off x="7069885" y="5474791"/>
            <a:ext cx="905833" cy="28575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COMPLETED</a:t>
            </a:r>
            <a:endParaRPr lang="en-US" sz="83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971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285750"/>
            <a:ext cx="8143875" cy="471488"/>
          </a:xfrm>
          <a:prstGeom prst="rect">
            <a:avLst/>
          </a:prstGeom>
          <a:noFill/>
          <a:ln/>
        </p:spPr>
        <p:txBody>
          <a:bodyPr wrap="none" lIns="0" tIns="0" rIns="0" bIns="68072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 Integration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871538"/>
            <a:ext cx="4481922" cy="14094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00063" y="871538"/>
            <a:ext cx="42863" cy="1409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00075" y="978694"/>
            <a:ext cx="23058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1: External SMS Provider (Twilio)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4455077" y="971550"/>
            <a:ext cx="426895" cy="20716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455077" y="971550"/>
            <a:ext cx="426895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600075" y="1235869"/>
            <a:ext cx="4281897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Send SMS notifications to patients for check-in confirmations and status updates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600075" y="1613036"/>
            <a:ext cx="5149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 URL:</a:t>
            </a:r>
            <a:endParaRPr lang="en-US" sz="785" dirty="0"/>
          </a:p>
        </p:txBody>
      </p:sp>
      <p:sp>
        <p:nvSpPr>
          <p:cNvPr id="11" name="Text 8"/>
          <p:cNvSpPr/>
          <p:nvPr/>
        </p:nvSpPr>
        <p:spPr>
          <a:xfrm>
            <a:off x="1200708" y="1613036"/>
            <a:ext cx="368126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https://api.twilio.com/2010-04-01/</a:t>
            </a:r>
            <a:endParaRPr lang="en-US" sz="785" dirty="0"/>
          </a:p>
        </p:txBody>
      </p:sp>
      <p:sp>
        <p:nvSpPr>
          <p:cNvPr id="12" name="Text 9"/>
          <p:cNvSpPr/>
          <p:nvPr/>
        </p:nvSpPr>
        <p:spPr>
          <a:xfrm>
            <a:off x="600075" y="1816633"/>
            <a:ext cx="5149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Auth:</a:t>
            </a:r>
            <a:endParaRPr lang="en-US" sz="785" dirty="0"/>
          </a:p>
        </p:txBody>
      </p:sp>
      <p:sp>
        <p:nvSpPr>
          <p:cNvPr id="13" name="Text 10"/>
          <p:cNvSpPr/>
          <p:nvPr/>
        </p:nvSpPr>
        <p:spPr>
          <a:xfrm>
            <a:off x="1200708" y="1816633"/>
            <a:ext cx="368126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Authentication (AccountSID, AuthToken)</a:t>
            </a:r>
            <a:endParaRPr lang="en-US" sz="785" dirty="0"/>
          </a:p>
        </p:txBody>
      </p:sp>
      <p:sp>
        <p:nvSpPr>
          <p:cNvPr id="14" name="Text 11"/>
          <p:cNvSpPr/>
          <p:nvPr/>
        </p:nvSpPr>
        <p:spPr>
          <a:xfrm>
            <a:off x="600075" y="2020230"/>
            <a:ext cx="51490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Endpoint:</a:t>
            </a:r>
            <a:endParaRPr lang="en-US" sz="785" dirty="0"/>
          </a:p>
        </p:txBody>
      </p:sp>
      <p:sp>
        <p:nvSpPr>
          <p:cNvPr id="15" name="Text 12"/>
          <p:cNvSpPr/>
          <p:nvPr/>
        </p:nvSpPr>
        <p:spPr>
          <a:xfrm>
            <a:off x="1200708" y="2020230"/>
            <a:ext cx="368126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/Accounts/{AccountSID}/Messages.json</a:t>
            </a:r>
            <a:endParaRPr lang="en-US" sz="785" dirty="0"/>
          </a:p>
        </p:txBody>
      </p:sp>
      <p:sp>
        <p:nvSpPr>
          <p:cNvPr id="16" name="Shape 13"/>
          <p:cNvSpPr/>
          <p:nvPr/>
        </p:nvSpPr>
        <p:spPr>
          <a:xfrm>
            <a:off x="500063" y="2366702"/>
            <a:ext cx="4481922" cy="124943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0063" y="2366702"/>
            <a:ext cx="42863" cy="1249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0075" y="2473858"/>
            <a:ext cx="182093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2: RFID Reader Webhook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4455077" y="2466715"/>
            <a:ext cx="426895" cy="20716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455077" y="2466715"/>
            <a:ext cx="426895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600075" y="2731033"/>
            <a:ext cx="428189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Receive RFID card taps from external readers for contactless check-in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600075" y="2948192"/>
            <a:ext cx="5015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Type:</a:t>
            </a:r>
            <a:endParaRPr lang="en-US" sz="785" dirty="0"/>
          </a:p>
        </p:txBody>
      </p:sp>
      <p:sp>
        <p:nvSpPr>
          <p:cNvPr id="23" name="Text 20"/>
          <p:cNvSpPr/>
          <p:nvPr/>
        </p:nvSpPr>
        <p:spPr>
          <a:xfrm>
            <a:off x="1187314" y="2948192"/>
            <a:ext cx="369465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Exposed REST API</a:t>
            </a:r>
            <a:endParaRPr lang="en-US" sz="785" dirty="0"/>
          </a:p>
        </p:txBody>
      </p:sp>
      <p:sp>
        <p:nvSpPr>
          <p:cNvPr id="24" name="Text 21"/>
          <p:cNvSpPr/>
          <p:nvPr/>
        </p:nvSpPr>
        <p:spPr>
          <a:xfrm>
            <a:off x="600075" y="3151789"/>
            <a:ext cx="5015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Auth:</a:t>
            </a:r>
            <a:endParaRPr lang="en-US" sz="785" dirty="0"/>
          </a:p>
        </p:txBody>
      </p:sp>
      <p:sp>
        <p:nvSpPr>
          <p:cNvPr id="25" name="Text 22"/>
          <p:cNvSpPr/>
          <p:nvPr/>
        </p:nvSpPr>
        <p:spPr>
          <a:xfrm>
            <a:off x="1187314" y="3151789"/>
            <a:ext cx="369465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Key in header</a:t>
            </a:r>
            <a:endParaRPr lang="en-US" sz="785" dirty="0"/>
          </a:p>
        </p:txBody>
      </p:sp>
      <p:sp>
        <p:nvSpPr>
          <p:cNvPr id="26" name="Text 23"/>
          <p:cNvSpPr/>
          <p:nvPr/>
        </p:nvSpPr>
        <p:spPr>
          <a:xfrm>
            <a:off x="600075" y="3355386"/>
            <a:ext cx="5015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Endpoint:</a:t>
            </a:r>
            <a:endParaRPr lang="en-US" sz="785" dirty="0"/>
          </a:p>
        </p:txBody>
      </p:sp>
      <p:sp>
        <p:nvSpPr>
          <p:cNvPr id="27" name="Text 24"/>
          <p:cNvSpPr/>
          <p:nvPr/>
        </p:nvSpPr>
        <p:spPr>
          <a:xfrm>
            <a:off x="1187314" y="3355386"/>
            <a:ext cx="369465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/api/rfid/checkin</a:t>
            </a:r>
            <a:endParaRPr lang="en-US" sz="785" dirty="0"/>
          </a:p>
        </p:txBody>
      </p:sp>
      <p:sp>
        <p:nvSpPr>
          <p:cNvPr id="28" name="Shape 25"/>
          <p:cNvSpPr/>
          <p:nvPr/>
        </p:nvSpPr>
        <p:spPr>
          <a:xfrm>
            <a:off x="500063" y="3701858"/>
            <a:ext cx="4481922" cy="1045834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00063" y="3701858"/>
            <a:ext cx="42863" cy="104583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00075" y="3809014"/>
            <a:ext cx="17758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3: QR Code Check-in API</a:t>
            </a:r>
            <a:endParaRPr lang="en-US" sz="942" dirty="0"/>
          </a:p>
        </p:txBody>
      </p:sp>
      <p:sp>
        <p:nvSpPr>
          <p:cNvPr id="31" name="Shape 28"/>
          <p:cNvSpPr/>
          <p:nvPr/>
        </p:nvSpPr>
        <p:spPr>
          <a:xfrm>
            <a:off x="4455077" y="3801870"/>
            <a:ext cx="426895" cy="207169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455077" y="3801870"/>
            <a:ext cx="426895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600075" y="4066189"/>
            <a:ext cx="428189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Mobile app or external system check-in via QR code scanning</a:t>
            </a:r>
            <a:endParaRPr lang="en-US" sz="837" dirty="0"/>
          </a:p>
        </p:txBody>
      </p:sp>
      <p:sp>
        <p:nvSpPr>
          <p:cNvPr id="34" name="Text 31"/>
          <p:cNvSpPr/>
          <p:nvPr/>
        </p:nvSpPr>
        <p:spPr>
          <a:xfrm>
            <a:off x="600075" y="4283348"/>
            <a:ext cx="5015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Type:</a:t>
            </a:r>
            <a:endParaRPr lang="en-US" sz="785" dirty="0"/>
          </a:p>
        </p:txBody>
      </p:sp>
      <p:sp>
        <p:nvSpPr>
          <p:cNvPr id="35" name="Text 32"/>
          <p:cNvSpPr/>
          <p:nvPr/>
        </p:nvSpPr>
        <p:spPr>
          <a:xfrm>
            <a:off x="1187314" y="4283348"/>
            <a:ext cx="369465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Exposed REST API</a:t>
            </a:r>
            <a:endParaRPr lang="en-US" sz="785" dirty="0"/>
          </a:p>
        </p:txBody>
      </p:sp>
      <p:sp>
        <p:nvSpPr>
          <p:cNvPr id="36" name="Text 33"/>
          <p:cNvSpPr/>
          <p:nvPr/>
        </p:nvSpPr>
        <p:spPr>
          <a:xfrm>
            <a:off x="600075" y="4486945"/>
            <a:ext cx="50151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Endpoint:</a:t>
            </a:r>
            <a:endParaRPr lang="en-US" sz="785" dirty="0"/>
          </a:p>
        </p:txBody>
      </p:sp>
      <p:sp>
        <p:nvSpPr>
          <p:cNvPr id="37" name="Text 34"/>
          <p:cNvSpPr/>
          <p:nvPr/>
        </p:nvSpPr>
        <p:spPr>
          <a:xfrm>
            <a:off x="1187314" y="4486945"/>
            <a:ext cx="369465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/api/checkin/qr</a:t>
            </a:r>
            <a:endParaRPr lang="en-US" sz="785" dirty="0"/>
          </a:p>
        </p:txBody>
      </p:sp>
      <p:sp>
        <p:nvSpPr>
          <p:cNvPr id="38" name="Shape 35"/>
          <p:cNvSpPr/>
          <p:nvPr/>
        </p:nvSpPr>
        <p:spPr>
          <a:xfrm>
            <a:off x="500063" y="4833417"/>
            <a:ext cx="4481922" cy="1249431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00063" y="4833417"/>
            <a:ext cx="42863" cy="1249431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00075" y="4940573"/>
            <a:ext cx="151478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4: Queue Status API</a:t>
            </a:r>
            <a:endParaRPr lang="en-US" sz="942" dirty="0"/>
          </a:p>
        </p:txBody>
      </p:sp>
      <p:sp>
        <p:nvSpPr>
          <p:cNvPr id="41" name="Shape 38"/>
          <p:cNvSpPr/>
          <p:nvPr/>
        </p:nvSpPr>
        <p:spPr>
          <a:xfrm>
            <a:off x="4524198" y="4933429"/>
            <a:ext cx="357774" cy="207169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524198" y="4933429"/>
            <a:ext cx="357774" cy="207169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</a:t>
            </a:r>
            <a:endParaRPr lang="en-US" sz="732" dirty="0"/>
          </a:p>
        </p:txBody>
      </p:sp>
      <p:sp>
        <p:nvSpPr>
          <p:cNvPr id="43" name="Text 40"/>
          <p:cNvSpPr/>
          <p:nvPr/>
        </p:nvSpPr>
        <p:spPr>
          <a:xfrm>
            <a:off x="600075" y="5197748"/>
            <a:ext cx="428189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 current queue status for external displays and third-party integrations</a:t>
            </a:r>
            <a:endParaRPr lang="en-US" sz="837" dirty="0"/>
          </a:p>
        </p:txBody>
      </p:sp>
      <p:sp>
        <p:nvSpPr>
          <p:cNvPr id="44" name="Text 41"/>
          <p:cNvSpPr/>
          <p:nvPr/>
        </p:nvSpPr>
        <p:spPr>
          <a:xfrm>
            <a:off x="600075" y="5414907"/>
            <a:ext cx="6380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Type:</a:t>
            </a:r>
            <a:endParaRPr lang="en-US" sz="785" dirty="0"/>
          </a:p>
        </p:txBody>
      </p:sp>
      <p:sp>
        <p:nvSpPr>
          <p:cNvPr id="45" name="Text 42"/>
          <p:cNvSpPr/>
          <p:nvPr/>
        </p:nvSpPr>
        <p:spPr>
          <a:xfrm>
            <a:off x="1323826" y="5414907"/>
            <a:ext cx="355814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Exposed REST API</a:t>
            </a:r>
            <a:endParaRPr lang="en-US" sz="785" dirty="0"/>
          </a:p>
        </p:txBody>
      </p:sp>
      <p:sp>
        <p:nvSpPr>
          <p:cNvPr id="46" name="Text 43"/>
          <p:cNvSpPr/>
          <p:nvPr/>
        </p:nvSpPr>
        <p:spPr>
          <a:xfrm>
            <a:off x="600075" y="5618504"/>
            <a:ext cx="6380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Endpoint:</a:t>
            </a:r>
            <a:endParaRPr lang="en-US" sz="785" dirty="0"/>
          </a:p>
        </p:txBody>
      </p:sp>
      <p:sp>
        <p:nvSpPr>
          <p:cNvPr id="47" name="Text 44"/>
          <p:cNvSpPr/>
          <p:nvPr/>
        </p:nvSpPr>
        <p:spPr>
          <a:xfrm>
            <a:off x="1323826" y="5618504"/>
            <a:ext cx="355814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/api/queue/status</a:t>
            </a:r>
            <a:endParaRPr lang="en-US" sz="785" dirty="0"/>
          </a:p>
        </p:txBody>
      </p:sp>
      <p:sp>
        <p:nvSpPr>
          <p:cNvPr id="48" name="Text 45"/>
          <p:cNvSpPr/>
          <p:nvPr/>
        </p:nvSpPr>
        <p:spPr>
          <a:xfrm>
            <a:off x="600075" y="5822100"/>
            <a:ext cx="63802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64748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Parameters:</a:t>
            </a:r>
            <a:endParaRPr lang="en-US" sz="785" dirty="0"/>
          </a:p>
        </p:txBody>
      </p:sp>
      <p:sp>
        <p:nvSpPr>
          <p:cNvPr id="49" name="Text 46"/>
          <p:cNvSpPr/>
          <p:nvPr/>
        </p:nvSpPr>
        <p:spPr>
          <a:xfrm>
            <a:off x="1323826" y="5822100"/>
            <a:ext cx="355814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departmentId (optional), status (optional)</a:t>
            </a:r>
            <a:endParaRPr lang="en-US" sz="785" dirty="0"/>
          </a:p>
        </p:txBody>
      </p:sp>
      <p:sp>
        <p:nvSpPr>
          <p:cNvPr id="50" name="Shape 47"/>
          <p:cNvSpPr/>
          <p:nvPr/>
        </p:nvSpPr>
        <p:spPr>
          <a:xfrm>
            <a:off x="5196297" y="871538"/>
            <a:ext cx="3447641" cy="48076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884" y="1032272"/>
            <a:ext cx="128588" cy="171450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5524909" y="1000125"/>
            <a:ext cx="143915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Points</a:t>
            </a:r>
            <a:endParaRPr lang="en-US" sz="1238" dirty="0"/>
          </a:p>
        </p:txBody>
      </p:sp>
      <p:sp>
        <p:nvSpPr>
          <p:cNvPr id="53" name="Shape 49"/>
          <p:cNvSpPr/>
          <p:nvPr/>
        </p:nvSpPr>
        <p:spPr>
          <a:xfrm>
            <a:off x="5324884" y="1343025"/>
            <a:ext cx="3190466" cy="47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5396322" y="1414463"/>
            <a:ext cx="200025" cy="20002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6328" y="1464469"/>
            <a:ext cx="100013" cy="100013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5667784" y="1414463"/>
            <a:ext cx="2776128" cy="334305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 REST API in ODC Service Studio with proper authentication and error handling</a:t>
            </a:r>
            <a:endParaRPr lang="en-US" sz="837" dirty="0"/>
          </a:p>
        </p:txBody>
      </p:sp>
      <p:sp>
        <p:nvSpPr>
          <p:cNvPr id="57" name="Shape 52"/>
          <p:cNvSpPr/>
          <p:nvPr/>
        </p:nvSpPr>
        <p:spPr>
          <a:xfrm>
            <a:off x="5324884" y="1891643"/>
            <a:ext cx="3190466" cy="47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3"/>
          <p:cNvSpPr/>
          <p:nvPr/>
        </p:nvSpPr>
        <p:spPr>
          <a:xfrm>
            <a:off x="5396322" y="1963080"/>
            <a:ext cx="200025" cy="20002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6328" y="2013086"/>
            <a:ext cx="100013" cy="100013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5667784" y="1963080"/>
            <a:ext cx="2776128" cy="334305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 all API calls in SMSNotification entity for audit trail and troubleshooting</a:t>
            </a:r>
            <a:endParaRPr lang="en-US" sz="837" dirty="0"/>
          </a:p>
        </p:txBody>
      </p:sp>
      <p:sp>
        <p:nvSpPr>
          <p:cNvPr id="61" name="Shape 55"/>
          <p:cNvSpPr/>
          <p:nvPr/>
        </p:nvSpPr>
        <p:spPr>
          <a:xfrm>
            <a:off x="5324884" y="2440260"/>
            <a:ext cx="3190466" cy="47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6"/>
          <p:cNvSpPr/>
          <p:nvPr/>
        </p:nvSpPr>
        <p:spPr>
          <a:xfrm>
            <a:off x="5396322" y="2511698"/>
            <a:ext cx="200025" cy="20002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6328" y="2561704"/>
            <a:ext cx="100013" cy="100013"/>
          </a:xfrm>
          <a:prstGeom prst="rect">
            <a:avLst/>
          </a:prstGeom>
        </p:spPr>
      </p:pic>
      <p:sp>
        <p:nvSpPr>
          <p:cNvPr id="64" name="Text 57"/>
          <p:cNvSpPr/>
          <p:nvPr/>
        </p:nvSpPr>
        <p:spPr>
          <a:xfrm>
            <a:off x="5667784" y="2511698"/>
            <a:ext cx="2776128" cy="334305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Validate API keys and implement rate limiting for exposed endpoints</a:t>
            </a:r>
            <a:endParaRPr lang="en-US" sz="837" dirty="0"/>
          </a:p>
        </p:txBody>
      </p:sp>
      <p:sp>
        <p:nvSpPr>
          <p:cNvPr id="65" name="Shape 58"/>
          <p:cNvSpPr/>
          <p:nvPr/>
        </p:nvSpPr>
        <p:spPr>
          <a:xfrm>
            <a:off x="5324884" y="2988878"/>
            <a:ext cx="3190466" cy="47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59"/>
          <p:cNvSpPr/>
          <p:nvPr/>
        </p:nvSpPr>
        <p:spPr>
          <a:xfrm>
            <a:off x="5396322" y="3060316"/>
            <a:ext cx="200025" cy="20002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6328" y="3110322"/>
            <a:ext cx="100013" cy="100013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5667784" y="3060316"/>
            <a:ext cx="2776128" cy="334305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Handle responses and errors gracefully with proper status codes and messages</a:t>
            </a:r>
            <a:endParaRPr lang="en-US" sz="837" dirty="0"/>
          </a:p>
        </p:txBody>
      </p:sp>
      <p:sp>
        <p:nvSpPr>
          <p:cNvPr id="69" name="Shape 61"/>
          <p:cNvSpPr/>
          <p:nvPr/>
        </p:nvSpPr>
        <p:spPr>
          <a:xfrm>
            <a:off x="5324884" y="3537496"/>
            <a:ext cx="3190466" cy="47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2"/>
          <p:cNvSpPr/>
          <p:nvPr/>
        </p:nvSpPr>
        <p:spPr>
          <a:xfrm>
            <a:off x="5396322" y="3608933"/>
            <a:ext cx="200025" cy="200025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6328" y="3658939"/>
            <a:ext cx="100013" cy="100013"/>
          </a:xfrm>
          <a:prstGeom prst="rect">
            <a:avLst/>
          </a:prstGeom>
        </p:spPr>
      </p:pic>
      <p:sp>
        <p:nvSpPr>
          <p:cNvPr id="72" name="Text 63"/>
          <p:cNvSpPr/>
          <p:nvPr/>
        </p:nvSpPr>
        <p:spPr>
          <a:xfrm>
            <a:off x="5667784" y="3608933"/>
            <a:ext cx="2776128" cy="334305"/>
          </a:xfrm>
          <a:prstGeom prst="rect">
            <a:avLst/>
          </a:prstGeom>
          <a:noFill/>
          <a:ln/>
        </p:spPr>
        <p:txBody>
          <a:bodyPr wrap="square" lIns="0" tIns="17018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Support JSON request and response formats for seamless integration</a:t>
            </a:r>
            <a:endParaRPr lang="en-US" sz="837" dirty="0"/>
          </a:p>
        </p:txBody>
      </p:sp>
      <p:sp>
        <p:nvSpPr>
          <p:cNvPr id="73" name="Shape 64"/>
          <p:cNvSpPr/>
          <p:nvPr/>
        </p:nvSpPr>
        <p:spPr>
          <a:xfrm>
            <a:off x="5324884" y="4121832"/>
            <a:ext cx="3190466" cy="142875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4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4884" y="4121832"/>
            <a:ext cx="3190466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185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285750"/>
            <a:ext cx="8143875" cy="471488"/>
          </a:xfrm>
          <a:prstGeom prst="rect">
            <a:avLst/>
          </a:prstGeom>
          <a:noFill/>
          <a:ln/>
        </p:spPr>
        <p:txBody>
          <a:bodyPr wrap="none" lIns="0" tIns="0" rIns="0" bIns="68072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Benefits &amp; Conclusion</a:t>
            </a:r>
            <a:endParaRPr lang="en-US" sz="2025" dirty="0"/>
          </a:p>
        </p:txBody>
      </p:sp>
      <p:sp>
        <p:nvSpPr>
          <p:cNvPr id="4" name="Shape 1"/>
          <p:cNvSpPr/>
          <p:nvPr/>
        </p:nvSpPr>
        <p:spPr>
          <a:xfrm>
            <a:off x="500063" y="871538"/>
            <a:ext cx="3964781" cy="30432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046559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07256" y="1014413"/>
            <a:ext cx="153029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Capabilities</a:t>
            </a:r>
            <a:endParaRPr lang="en-US" sz="1238" dirty="0"/>
          </a:p>
        </p:txBody>
      </p:sp>
      <p:sp>
        <p:nvSpPr>
          <p:cNvPr id="7" name="Shape 3"/>
          <p:cNvSpPr/>
          <p:nvPr/>
        </p:nvSpPr>
        <p:spPr>
          <a:xfrm>
            <a:off x="642938" y="1364456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88" y="1421606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7263" y="1350169"/>
            <a:ext cx="336470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Multi-channel patient check-in supporting SMS, QR code, RFID, web, and mobile platforms</a:t>
            </a:r>
            <a:endParaRPr lang="en-US" sz="889" dirty="0"/>
          </a:p>
        </p:txBody>
      </p:sp>
      <p:sp>
        <p:nvSpPr>
          <p:cNvPr id="10" name="Shape 5"/>
          <p:cNvSpPr/>
          <p:nvPr/>
        </p:nvSpPr>
        <p:spPr>
          <a:xfrm>
            <a:off x="642938" y="177589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1833042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7263" y="1761604"/>
            <a:ext cx="336470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queue management with automated position calculation and estimated wait times</a:t>
            </a:r>
            <a:endParaRPr lang="en-US" sz="889" dirty="0"/>
          </a:p>
        </p:txBody>
      </p:sp>
      <p:sp>
        <p:nvSpPr>
          <p:cNvPr id="13" name="Shape 7"/>
          <p:cNvSpPr/>
          <p:nvPr/>
        </p:nvSpPr>
        <p:spPr>
          <a:xfrm>
            <a:off x="642938" y="2187327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088" y="2244477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57263" y="2173039"/>
            <a:ext cx="336470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Comprehensive dashboards for front desk staff, doctors, and administrators with live updates</a:t>
            </a:r>
            <a:endParaRPr lang="en-US" sz="889" dirty="0"/>
          </a:p>
        </p:txBody>
      </p:sp>
      <p:sp>
        <p:nvSpPr>
          <p:cNvPr id="16" name="Shape 9"/>
          <p:cNvSpPr/>
          <p:nvPr/>
        </p:nvSpPr>
        <p:spPr>
          <a:xfrm>
            <a:off x="642938" y="2598762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088" y="2655912"/>
            <a:ext cx="114300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57263" y="2584475"/>
            <a:ext cx="336470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SMS notifications for check-in confirmation and status updates via Twilio integration</a:t>
            </a:r>
            <a:endParaRPr lang="en-US" sz="889" dirty="0"/>
          </a:p>
        </p:txBody>
      </p:sp>
      <p:sp>
        <p:nvSpPr>
          <p:cNvPr id="19" name="Shape 11"/>
          <p:cNvSpPr/>
          <p:nvPr/>
        </p:nvSpPr>
        <p:spPr>
          <a:xfrm>
            <a:off x="642938" y="301019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88" y="3067348"/>
            <a:ext cx="114300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957263" y="2995910"/>
            <a:ext cx="336470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 waiting room displays with animated ticket transitions and real-time queue status</a:t>
            </a:r>
            <a:endParaRPr lang="en-US" sz="889" dirty="0"/>
          </a:p>
        </p:txBody>
      </p:sp>
      <p:sp>
        <p:nvSpPr>
          <p:cNvPr id="22" name="Shape 13"/>
          <p:cNvSpPr/>
          <p:nvPr/>
        </p:nvSpPr>
        <p:spPr>
          <a:xfrm>
            <a:off x="642938" y="3421633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8" y="3478783"/>
            <a:ext cx="114300" cy="1143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957263" y="3407346"/>
            <a:ext cx="336470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Analytics and reporting with insights on check-in methods, wait times, and department performance</a:t>
            </a:r>
            <a:endParaRPr lang="en-US" sz="889" dirty="0"/>
          </a:p>
        </p:txBody>
      </p:sp>
      <p:sp>
        <p:nvSpPr>
          <p:cNvPr id="25" name="Shape 15"/>
          <p:cNvSpPr/>
          <p:nvPr/>
        </p:nvSpPr>
        <p:spPr>
          <a:xfrm>
            <a:off x="4679156" y="871538"/>
            <a:ext cx="3964781" cy="30432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2031" y="1046559"/>
            <a:ext cx="214313" cy="17145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107781" y="1014413"/>
            <a:ext cx="229663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 err="1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OutSystems</a:t>
            </a:r>
            <a:r>
              <a:rPr lang="en-US" sz="1238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ODC Advantages</a:t>
            </a:r>
            <a:endParaRPr lang="en-US" sz="1238" dirty="0"/>
          </a:p>
        </p:txBody>
      </p:sp>
      <p:sp>
        <p:nvSpPr>
          <p:cNvPr id="28" name="Text 17"/>
          <p:cNvSpPr/>
          <p:nvPr/>
        </p:nvSpPr>
        <p:spPr>
          <a:xfrm>
            <a:off x="4822031" y="1407319"/>
            <a:ext cx="307516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Cloud-Native Architecture</a:t>
            </a:r>
            <a:endParaRPr lang="en-US" sz="889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97192" y="1441252"/>
            <a:ext cx="114300" cy="1143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8054355" y="1412677"/>
            <a:ext cx="4467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Enabled</a:t>
            </a:r>
            <a:endParaRPr lang="en-US" sz="837" dirty="0"/>
          </a:p>
        </p:txBody>
      </p:sp>
      <p:sp>
        <p:nvSpPr>
          <p:cNvPr id="31" name="Text 19"/>
          <p:cNvSpPr/>
          <p:nvPr/>
        </p:nvSpPr>
        <p:spPr>
          <a:xfrm>
            <a:off x="4822031" y="1710928"/>
            <a:ext cx="297869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Rapid Development</a:t>
            </a:r>
            <a:endParaRPr lang="en-US" sz="889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0724" y="1744861"/>
            <a:ext cx="114300" cy="1143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7957886" y="1716286"/>
            <a:ext cx="5431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Low-Code</a:t>
            </a:r>
            <a:endParaRPr lang="en-US" sz="837" dirty="0"/>
          </a:p>
        </p:txBody>
      </p:sp>
      <p:sp>
        <p:nvSpPr>
          <p:cNvPr id="34" name="Text 21"/>
          <p:cNvSpPr/>
          <p:nvPr/>
        </p:nvSpPr>
        <p:spPr>
          <a:xfrm>
            <a:off x="4822031" y="2014538"/>
            <a:ext cx="293184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Scalability</a:t>
            </a:r>
            <a:endParaRPr lang="en-US" sz="889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3871" y="2048470"/>
            <a:ext cx="114300" cy="1143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7911033" y="2019895"/>
            <a:ext cx="5900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Auto-Scale</a:t>
            </a:r>
            <a:endParaRPr lang="en-US" sz="837" dirty="0"/>
          </a:p>
        </p:txBody>
      </p:sp>
      <p:sp>
        <p:nvSpPr>
          <p:cNvPr id="37" name="Text 23"/>
          <p:cNvSpPr/>
          <p:nvPr/>
        </p:nvSpPr>
        <p:spPr>
          <a:xfrm>
            <a:off x="4822031" y="2318147"/>
            <a:ext cx="31559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Microservices Support</a:t>
            </a:r>
            <a:endParaRPr lang="en-US" sz="889" dirty="0"/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78006" y="2352080"/>
            <a:ext cx="114300" cy="11430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8135169" y="2323505"/>
            <a:ext cx="3658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Native</a:t>
            </a:r>
            <a:endParaRPr lang="en-US" sz="837" dirty="0"/>
          </a:p>
        </p:txBody>
      </p:sp>
      <p:sp>
        <p:nvSpPr>
          <p:cNvPr id="40" name="Text 25"/>
          <p:cNvSpPr/>
          <p:nvPr/>
        </p:nvSpPr>
        <p:spPr>
          <a:xfrm>
            <a:off x="4822031" y="2621756"/>
            <a:ext cx="311757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Kubernetes Integration</a:t>
            </a:r>
            <a:endParaRPr lang="en-US" sz="889" dirty="0"/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9608" y="2655689"/>
            <a:ext cx="114300" cy="114300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8096771" y="2627114"/>
            <a:ext cx="4042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Built-in</a:t>
            </a:r>
            <a:endParaRPr lang="en-US" sz="837" dirty="0"/>
          </a:p>
        </p:txBody>
      </p:sp>
      <p:sp>
        <p:nvSpPr>
          <p:cNvPr id="43" name="Text 27"/>
          <p:cNvSpPr/>
          <p:nvPr/>
        </p:nvSpPr>
        <p:spPr>
          <a:xfrm>
            <a:off x="4822031" y="2925366"/>
            <a:ext cx="289344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Deployment</a:t>
            </a:r>
            <a:endParaRPr lang="en-US" sz="889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15473" y="2959298"/>
            <a:ext cx="114300" cy="114300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7872636" y="2930723"/>
            <a:ext cx="6284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</a:t>
            </a:r>
            <a:endParaRPr lang="en-US" sz="837" dirty="0"/>
          </a:p>
        </p:txBody>
      </p:sp>
      <p:sp>
        <p:nvSpPr>
          <p:cNvPr id="46" name="Text 29"/>
          <p:cNvSpPr/>
          <p:nvPr/>
        </p:nvSpPr>
        <p:spPr>
          <a:xfrm>
            <a:off x="4822031" y="3228975"/>
            <a:ext cx="257191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&amp; Compliance</a:t>
            </a:r>
            <a:endParaRPr lang="en-US" sz="889" dirty="0"/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93949" y="3262908"/>
            <a:ext cx="114300" cy="114300"/>
          </a:xfrm>
          <a:prstGeom prst="rect">
            <a:avLst/>
          </a:prstGeom>
        </p:spPr>
      </p:pic>
      <p:sp>
        <p:nvSpPr>
          <p:cNvPr id="48" name="Text 30"/>
          <p:cNvSpPr/>
          <p:nvPr/>
        </p:nvSpPr>
        <p:spPr>
          <a:xfrm>
            <a:off x="7551111" y="3234333"/>
            <a:ext cx="9499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Enterprise-Grade</a:t>
            </a:r>
            <a:endParaRPr lang="en-US" sz="837" dirty="0"/>
          </a:p>
        </p:txBody>
      </p:sp>
      <p:sp>
        <p:nvSpPr>
          <p:cNvPr id="49" name="Text 31"/>
          <p:cNvSpPr/>
          <p:nvPr/>
        </p:nvSpPr>
        <p:spPr>
          <a:xfrm>
            <a:off x="4822031" y="3532584"/>
            <a:ext cx="29807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API-First Design</a:t>
            </a:r>
            <a:endParaRPr lang="en-US" sz="889" dirty="0"/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02789" y="3566517"/>
            <a:ext cx="114300" cy="114300"/>
          </a:xfrm>
          <a:prstGeom prst="rect">
            <a:avLst/>
          </a:prstGeom>
        </p:spPr>
      </p:pic>
      <p:sp>
        <p:nvSpPr>
          <p:cNvPr id="51" name="Text 32"/>
          <p:cNvSpPr/>
          <p:nvPr/>
        </p:nvSpPr>
        <p:spPr>
          <a:xfrm>
            <a:off x="7959951" y="3537942"/>
            <a:ext cx="5411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10B98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 APIs</a:t>
            </a:r>
            <a:endParaRPr lang="en-US" sz="837" dirty="0"/>
          </a:p>
        </p:txBody>
      </p:sp>
      <p:sp>
        <p:nvSpPr>
          <p:cNvPr id="52" name="Shape 33"/>
          <p:cNvSpPr/>
          <p:nvPr/>
        </p:nvSpPr>
        <p:spPr>
          <a:xfrm>
            <a:off x="500063" y="4043363"/>
            <a:ext cx="8143875" cy="12608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34"/>
          <p:cNvSpPr/>
          <p:nvPr/>
        </p:nvSpPr>
        <p:spPr>
          <a:xfrm>
            <a:off x="628650" y="4171950"/>
            <a:ext cx="78867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89" dirty="0">
                <a:solidFill>
                  <a:srgbClr val="3341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 PatientOnboardingSystem demonstrates the power of OutSystems Developer Cloud in building comprehensive, enterprise-grade healthcare applications with minimal development time. The platform's cloud-native architecture, combined with low-code capabilities, enables rapid deployment of scalable solutions that enhance patient experience and streamline clinic operations. </a:t>
            </a:r>
            <a:endParaRPr lang="en-US" sz="889" dirty="0"/>
          </a:p>
        </p:txBody>
      </p:sp>
      <p:sp>
        <p:nvSpPr>
          <p:cNvPr id="54" name="Text 35"/>
          <p:cNvSpPr/>
          <p:nvPr/>
        </p:nvSpPr>
        <p:spPr>
          <a:xfrm>
            <a:off x="628650" y="4789884"/>
            <a:ext cx="78867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42" b="1" dirty="0">
                <a:solidFill>
                  <a:srgbClr val="1E3A8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Future Enhancements: Mobile app expansion, AI-powered wait time predictions, telemedicine integration, and multi-language support 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1492</Words>
  <Application>Microsoft Macintosh PowerPoint</Application>
  <PresentationFormat>On-screen Show (16:9)</PresentationFormat>
  <Paragraphs>369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Satya Sai Srinivas Yendru</cp:lastModifiedBy>
  <cp:revision>3</cp:revision>
  <dcterms:created xsi:type="dcterms:W3CDTF">2025-10-13T12:13:14Z</dcterms:created>
  <dcterms:modified xsi:type="dcterms:W3CDTF">2025-10-16T21:56:27Z</dcterms:modified>
</cp:coreProperties>
</file>